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[대본 - 슬라이드 1: 0:00~0:20]
안녕하세요. 저는 신구대학교 이채연입니다.
오늘 발표할 프로젝트는 emotion-diary, AI가 내 감정을 읽어주는 일기 앱입니다.
React Native와 Claude API를 활용해서 직접 개발했습니다.
잘 부탁드립니다.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[대본 - 슬라이드 2: 0:20~0:55]
현대인의 76%는 감정을 표현하는 것이 어렵다고 느낀다고 합니다.
일기를 쓰고 싶어도, '뭘 써야 할지 모르겠다'는 분들이 많습니다.
이 앱의 비전은 간단합니다.
'AI가 먼저 내 감정을 읽고, 위로와 인사이트를 건네주는 것'입니다.
기존 메모앱은 감정 분석이 없고,
명상 앱은 능동적 참여가 필요해서 꾸준히 하기 어렵습니다.
저는 이 문제를 Claude API의 자연어 이해 능력으로 해결했습니다.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[대본 - 슬라이드 3: 0:55~1:30]
6주 동안 기획부터 배포까지 단계별로 진행했습니다.
1-2주차에 비전과 아키텍처를 잡고,
3-4주차에 실제 구현, 5-6주차에 테스트와 문서화입니다.
기술 선택 이유를 말씀드리면,
React Native와 Expo는 웹 지식을 바로 활용할 수 있고 Expo Go로 즉시 테스트가 가능해서 선택했고,
Zustand는 Redux 대비 코드가 훨씬 간결하고,
Firebase는 인증과 DB를 한 번에 해결할 수 있어서 선택했습니다.
각 선택의 근거는 ADR-0001부터 0003에 문서화해두었습니다.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[대본 - 슬라이드 4: 1:30~2:00]
아키텍처는 4레이어 클린 아키텍처를 적용했습니다.
Presentation Layer는 React 컴포넌트로 화면만 담당하고,
Application Layer의 Zustand Store가 상태와 로직을 조율합니다.
Domain Layer는 DiaryEntry, EmotionResult 같은 핵심 모델을 정의하고,
Data Layer에서 Claude API와 Firebase에 실제로 통신합니다.
각 레이어는 아래 방향으로만 의존하기 때문에,
예를 들어 Firebase를 다른 DB로 바꿔도 Data Layer만 수정하면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[대본 - 슬라이드 5: 2:00~2:40]
구현 중 세 가지 주요 시행착오가 있었습니다.
첫째, Expo SDK 버전 충돌입니다.
SDK 56을 설치하려다 react-native-reanimated 호환 에러가 났고,
SDK 54로 다운그레이드해서 해결했습니다.
둘째, expo-router 대신 useState로 화면 전환을 구현했습니다.
라우터 의존성 충돌을 제거하고 구조를 단순화해서 오히려 유지보수가 쉬워졌습니다.
셋째, Expo Go 네트워크 연결 문제입니다.
Mac 방화벽이 켜져 있으면 스마트폰에서 앱을 못 불러오는데,
방화벽 비활성화와 터널 모드로 해결했습니다.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[대본 - 슬라이드 6: 2:40~3:10]
개발 환경 설정은 5단계입니다.
레포를 클론하고, npm install에 반드시 --legacy-peer-deps 옵션을 붙여야 합니다.
.env 파일에 Claude API 키와 Firebase 설정을 넣고,
npx expo start로 실행하면 QR 코드로 바로 폰에서 확인할 수 있습니다.
빌드와 배포에 대해서 설명하면,
빌드는 소스코드를 실행 가능한 앱 파일로 변환하는 과정이고,
배포는 그 파일을 사용자 기기에 전달하는 과정입니다.
개발 중에는 Expo Go로 즉시 확인하고,
EAS Build로 실제 APK 파일을 생성할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[대본 - 슬라이드 7: 3:10~3:40]
기술 선택의 근거는 ADR로 문서화했습니다.
ADR-0001은 React Native + Expo를 선택한 이유입니다.
웹 개발 지식을 바로 활용할 수 있고, Expo Go로 즉시 테스트가 가능하기 때문입니다.
ADR-0002는 Zustand를 선택한 이유입니다.
Redux에 비해 코드가 훨씬 간결하고, 학습 곡선이 낮아서 선택했습니다.
ADR-0003은 Firebase를 선택한 이유입니다.
인증과 DB를 한 번에 해결하고, 무료 티어로 충분했습니다.
코드 품질은 TypeScript 타입 적용과 환경변수 분리로 관리했고,
7개 시나리오 기반 수동 테스트와 통합 테스트를 진행했습니다.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[대본 - 슬라이드 8: 3:40~4:10]
이 앱은 개인 감정 관리 도구로 바로 사용할 수 있고,
향후에는 감정 통계 차트와 상담 보조 도구로 발전시킬 계획입니다.
성능 최적화 측면에서는,
Zustand의 selector를 활용해서 필요한 상태만 구독하도록 했고,
API 응답 중에는 로딩 상태를 표시해서 사용자 경험을 개선했습니다.
앞으로는 React Native를 더 깊이 공부하고,
실제 앱스토어 배포까지 도전해보고 싶습니다.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[대본 - 슬라이드 9: 4:10~4:40 (데모 30초)]
이제 직접 시연해드리겠습니다.
① 앱을 실행하면 일기 작성 화면이 나옵니다.
② '오늘 발표가 너무 긴장됐다'고 입력하고 저장합니다.
③ Claude가 감정을 분석해서 '긴장/불안' 레이블과 위로 메시지를 보여줍니다.
④ 히스토리 화면으로 이동하면 저장된 일기들을 확인할 수 있습니다.
[실제 앱을 미리 켜두고, QR 연결 확인 후 진행]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[대본 - 슬라이드 10: 4:40~5:00]
정리하면, emotion-diary는
4레이어 클린 아키텍처로 설계했고,
Claude API를 활용해서 감정 분석 기능을 구현했으며,
ADR로 모든 기술 의사결정을 기록했습니다.
setup, deploy, testing 문서와 README, AGENTS.md까지 모두 준비했습니다.
이상입니다. 감사합니다. 질문 받겠습니다.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E5233"/>
        </a:solidFill>
      </p:bgPr>
    </p:bg>
    <p:spTree>
      <p:nvGrpSpPr>
        <p:cNvPr id="1" name=""/>
        <p:cNvGrpSpPr/>
        <p:nvPr/>
      </p:nvGrpSpPr>
      <p:grpSpPr>
        <a:xfrm>
          <a:off x="0" y="0"/>
          <a:ext cx="0" cy="0"/>
          <a:chOff x="0" y="0"/>
          <a:chExt cx="0" cy="0"/>
        </a:xfrm>
      </p:grpSpPr>
      <p:sp>
        <p:nvSpPr>
          <p:cNvPr id="2" name="Text 0"/>
          <p:cNvSpPr/>
          <p:nvPr/>
        </p:nvSpPr>
        <p:spPr>
          <a:xfrm>
            <a:off x="731520" y="1005840"/>
            <a:ext cx="7680960" cy="1097280"/>
          </a:xfrm>
          <a:prstGeom prst="rect">
            <a:avLst/>
          </a:prstGeom>
          <a:noFill/>
          <a:ln/>
        </p:spPr>
        <p:txBody>
          <a:bodyPr wrap="square" rtlCol="0" anchor="ctr"/>
          <a:lstStyle/>
          <a:p>
            <a:pPr algn="ctr" indent="0" marL="0">
              <a:buNone/>
            </a:pPr>
            <a:r>
              <a:rPr lang="en-US" sz="4800" b="1" dirty="0">
                <a:solidFill>
                  <a:srgbClr val="DDF0E1"/>
                </a:solidFill>
                <a:latin typeface="Cambria" pitchFamily="34" charset="0"/>
                <a:ea typeface="Cambria" pitchFamily="34" charset="-122"/>
                <a:cs typeface="Cambria" pitchFamily="34" charset="-120"/>
              </a:rPr>
              <a:t>🌿 emotion-diary</a:t>
            </a:r>
            <a:endParaRPr lang="en-US" sz="4800" dirty="0"/>
          </a:p>
        </p:txBody>
      </p:sp>
      <p:sp>
        <p:nvSpPr>
          <p:cNvPr id="3" name="Text 1"/>
          <p:cNvSpPr/>
          <p:nvPr/>
        </p:nvSpPr>
        <p:spPr>
          <a:xfrm>
            <a:off x="731520" y="2103120"/>
            <a:ext cx="7680960" cy="548640"/>
          </a:xfrm>
          <a:prstGeom prst="rect">
            <a:avLst/>
          </a:prstGeom>
          <a:noFill/>
          <a:ln/>
        </p:spPr>
        <p:txBody>
          <a:bodyPr wrap="square" rtlCol="0" anchor="ctr"/>
          <a:lstStyle/>
          <a:p>
            <a:pPr algn="ctr" indent="0" marL="0">
              <a:buNone/>
            </a:pPr>
            <a:r>
              <a:rPr lang="en-US" sz="2200" dirty="0">
                <a:solidFill>
                  <a:srgbClr val="A8D5B0"/>
                </a:solidFill>
                <a:latin typeface="Arial" pitchFamily="34" charset="0"/>
                <a:ea typeface="Arial" pitchFamily="34" charset="-122"/>
                <a:cs typeface="Arial" pitchFamily="34" charset="-120"/>
              </a:rPr>
              <a:t>AI가 내 감정을 읽어주는 일기 앱</a:t>
            </a:r>
            <a:endParaRPr lang="en-US" sz="2200" dirty="0"/>
          </a:p>
        </p:txBody>
      </p:sp>
      <p:sp>
        <p:nvSpPr>
          <p:cNvPr id="4" name="Shape 2"/>
          <p:cNvSpPr/>
          <p:nvPr/>
        </p:nvSpPr>
        <p:spPr>
          <a:xfrm>
            <a:off x="2286000" y="2788920"/>
            <a:ext cx="4572000" cy="0"/>
          </a:xfrm>
          <a:prstGeom prst="line">
            <a:avLst/>
          </a:prstGeom>
          <a:noFill/>
          <a:ln w="25400">
            <a:solidFill>
              <a:srgbClr val="6BAE72"/>
            </a:solidFill>
            <a:prstDash val="solid"/>
          </a:ln>
        </p:spPr>
      </p:sp>
      <p:sp>
        <p:nvSpPr>
          <p:cNvPr id="5" name="Text 3"/>
          <p:cNvSpPr/>
          <p:nvPr/>
        </p:nvSpPr>
        <p:spPr>
          <a:xfrm>
            <a:off x="731520" y="2926080"/>
            <a:ext cx="7680960" cy="365760"/>
          </a:xfrm>
          <a:prstGeom prst="rect">
            <a:avLst/>
          </a:prstGeom>
          <a:noFill/>
          <a:ln/>
        </p:spPr>
        <p:txBody>
          <a:bodyPr wrap="square" rtlCol="0" anchor="ctr"/>
          <a:lstStyle/>
          <a:p>
            <a:pPr algn="ctr" indent="0" marL="0">
              <a:buNone/>
            </a:pPr>
            <a:r>
              <a:rPr lang="en-US" sz="1400" dirty="0">
                <a:solidFill>
                  <a:srgbClr val="C5E8CC"/>
                </a:solidFill>
                <a:latin typeface="Arial" pitchFamily="34" charset="0"/>
                <a:ea typeface="Arial" pitchFamily="34" charset="-122"/>
                <a:cs typeface="Arial" pitchFamily="34" charset="-120"/>
              </a:rPr>
              <a:t>이채연  ·  2023136041  ·  신구대학교</a:t>
            </a:r>
            <a:endParaRPr lang="en-US" sz="1400" dirty="0"/>
          </a:p>
        </p:txBody>
      </p:sp>
      <p:sp>
        <p:nvSpPr>
          <p:cNvPr id="6" name="Text 4"/>
          <p:cNvSpPr/>
          <p:nvPr/>
        </p:nvSpPr>
        <p:spPr>
          <a:xfrm>
            <a:off x="731520" y="3337560"/>
            <a:ext cx="7680960" cy="320040"/>
          </a:xfrm>
          <a:prstGeom prst="rect">
            <a:avLst/>
          </a:prstGeom>
          <a:noFill/>
          <a:ln/>
        </p:spPr>
        <p:txBody>
          <a:bodyPr wrap="square" rtlCol="0" anchor="ctr"/>
          <a:lstStyle/>
          <a:p>
            <a:pPr algn="ctr" indent="0" marL="0">
              <a:buNone/>
            </a:pPr>
            <a:r>
              <a:rPr lang="en-US" sz="1300" dirty="0">
                <a:solidFill>
                  <a:srgbClr val="8ABA92"/>
                </a:solidFill>
                <a:latin typeface="Arial" pitchFamily="34" charset="0"/>
                <a:ea typeface="Arial" pitchFamily="34" charset="-122"/>
                <a:cs typeface="Arial" pitchFamily="34" charset="-120"/>
              </a:rPr>
              <a:t>Vibe Coding — 앱프로그래밍응용 최종 발표</a:t>
            </a:r>
            <a:endParaRPr lang="en-US" sz="1300" dirty="0"/>
          </a:p>
        </p:txBody>
      </p:sp>
      <p:sp>
        <p:nvSpPr>
          <p:cNvPr id="7" name="Shape 5"/>
          <p:cNvSpPr/>
          <p:nvPr/>
        </p:nvSpPr>
        <p:spPr>
          <a:xfrm>
            <a:off x="640080" y="4114800"/>
            <a:ext cx="1417320" cy="365760"/>
          </a:xfrm>
          <a:prstGeom prst="roundRect">
            <a:avLst>
              <a:gd name="adj" fmla="val 25000"/>
            </a:avLst>
          </a:prstGeom>
          <a:solidFill>
            <a:srgbClr val="3D6B43"/>
          </a:solidFill>
          <a:ln w="12700">
            <a:solidFill>
              <a:srgbClr val="6BAE72"/>
            </a:solidFill>
            <a:prstDash val="solid"/>
          </a:ln>
        </p:spPr>
      </p:sp>
      <p:sp>
        <p:nvSpPr>
          <p:cNvPr id="8" name="Text 6"/>
          <p:cNvSpPr/>
          <p:nvPr/>
        </p:nvSpPr>
        <p:spPr>
          <a:xfrm>
            <a:off x="640080" y="4114800"/>
            <a:ext cx="1417320" cy="365760"/>
          </a:xfrm>
          <a:prstGeom prst="rect">
            <a:avLst/>
          </a:prstGeom>
          <a:noFill/>
          <a:ln/>
        </p:spPr>
        <p:txBody>
          <a:bodyPr wrap="square" lIns="0" tIns="0" rIns="0" bIns="0" rtlCol="0" anchor="ctr"/>
          <a:lstStyle/>
          <a:p>
            <a:pPr algn="ctr" indent="0" marL="0">
              <a:buNone/>
            </a:pPr>
            <a:r>
              <a:rPr lang="en-US" sz="1100" dirty="0">
                <a:solidFill>
                  <a:srgbClr val="DDF0E1"/>
                </a:solidFill>
              </a:rPr>
              <a:t>React Native</a:t>
            </a:r>
            <a:endParaRPr lang="en-US" sz="1100" dirty="0"/>
          </a:p>
        </p:txBody>
      </p:sp>
      <p:sp>
        <p:nvSpPr>
          <p:cNvPr id="9" name="Shape 7"/>
          <p:cNvSpPr/>
          <p:nvPr/>
        </p:nvSpPr>
        <p:spPr>
          <a:xfrm>
            <a:off x="2240280" y="4114800"/>
            <a:ext cx="1417320" cy="365760"/>
          </a:xfrm>
          <a:prstGeom prst="roundRect">
            <a:avLst>
              <a:gd name="adj" fmla="val 25000"/>
            </a:avLst>
          </a:prstGeom>
          <a:solidFill>
            <a:srgbClr val="3D6B43"/>
          </a:solidFill>
          <a:ln w="12700">
            <a:solidFill>
              <a:srgbClr val="6BAE72"/>
            </a:solidFill>
            <a:prstDash val="solid"/>
          </a:ln>
        </p:spPr>
      </p:sp>
      <p:sp>
        <p:nvSpPr>
          <p:cNvPr id="10" name="Text 8"/>
          <p:cNvSpPr/>
          <p:nvPr/>
        </p:nvSpPr>
        <p:spPr>
          <a:xfrm>
            <a:off x="2240280" y="4114800"/>
            <a:ext cx="1417320" cy="365760"/>
          </a:xfrm>
          <a:prstGeom prst="rect">
            <a:avLst/>
          </a:prstGeom>
          <a:noFill/>
          <a:ln/>
        </p:spPr>
        <p:txBody>
          <a:bodyPr wrap="square" lIns="0" tIns="0" rIns="0" bIns="0" rtlCol="0" anchor="ctr"/>
          <a:lstStyle/>
          <a:p>
            <a:pPr algn="ctr" indent="0" marL="0">
              <a:buNone/>
            </a:pPr>
            <a:r>
              <a:rPr lang="en-US" sz="1100" dirty="0">
                <a:solidFill>
                  <a:srgbClr val="DDF0E1"/>
                </a:solidFill>
              </a:rPr>
              <a:t>Expo SDK 54</a:t>
            </a:r>
            <a:endParaRPr lang="en-US" sz="1100" dirty="0"/>
          </a:p>
        </p:txBody>
      </p:sp>
      <p:sp>
        <p:nvSpPr>
          <p:cNvPr id="11" name="Shape 9"/>
          <p:cNvSpPr/>
          <p:nvPr/>
        </p:nvSpPr>
        <p:spPr>
          <a:xfrm>
            <a:off x="3840480" y="4114800"/>
            <a:ext cx="1417320" cy="365760"/>
          </a:xfrm>
          <a:prstGeom prst="roundRect">
            <a:avLst>
              <a:gd name="adj" fmla="val 25000"/>
            </a:avLst>
          </a:prstGeom>
          <a:solidFill>
            <a:srgbClr val="3D6B43"/>
          </a:solidFill>
          <a:ln w="12700">
            <a:solidFill>
              <a:srgbClr val="6BAE72"/>
            </a:solidFill>
            <a:prstDash val="solid"/>
          </a:ln>
        </p:spPr>
      </p:sp>
      <p:sp>
        <p:nvSpPr>
          <p:cNvPr id="12" name="Text 10"/>
          <p:cNvSpPr/>
          <p:nvPr/>
        </p:nvSpPr>
        <p:spPr>
          <a:xfrm>
            <a:off x="3840480" y="4114800"/>
            <a:ext cx="1417320" cy="365760"/>
          </a:xfrm>
          <a:prstGeom prst="rect">
            <a:avLst/>
          </a:prstGeom>
          <a:noFill/>
          <a:ln/>
        </p:spPr>
        <p:txBody>
          <a:bodyPr wrap="square" lIns="0" tIns="0" rIns="0" bIns="0" rtlCol="0" anchor="ctr"/>
          <a:lstStyle/>
          <a:p>
            <a:pPr algn="ctr" indent="0" marL="0">
              <a:buNone/>
            </a:pPr>
            <a:r>
              <a:rPr lang="en-US" sz="1100" dirty="0">
                <a:solidFill>
                  <a:srgbClr val="DDF0E1"/>
                </a:solidFill>
              </a:rPr>
              <a:t>Zustand</a:t>
            </a:r>
            <a:endParaRPr lang="en-US" sz="1100" dirty="0"/>
          </a:p>
        </p:txBody>
      </p:sp>
      <p:sp>
        <p:nvSpPr>
          <p:cNvPr id="13" name="Shape 11"/>
          <p:cNvSpPr/>
          <p:nvPr/>
        </p:nvSpPr>
        <p:spPr>
          <a:xfrm>
            <a:off x="5440680" y="4114800"/>
            <a:ext cx="1417320" cy="365760"/>
          </a:xfrm>
          <a:prstGeom prst="roundRect">
            <a:avLst>
              <a:gd name="adj" fmla="val 25000"/>
            </a:avLst>
          </a:prstGeom>
          <a:solidFill>
            <a:srgbClr val="3D6B43"/>
          </a:solidFill>
          <a:ln w="12700">
            <a:solidFill>
              <a:srgbClr val="6BAE72"/>
            </a:solidFill>
            <a:prstDash val="solid"/>
          </a:ln>
        </p:spPr>
      </p:sp>
      <p:sp>
        <p:nvSpPr>
          <p:cNvPr id="14" name="Text 12"/>
          <p:cNvSpPr/>
          <p:nvPr/>
        </p:nvSpPr>
        <p:spPr>
          <a:xfrm>
            <a:off x="5440680" y="4114800"/>
            <a:ext cx="1417320" cy="365760"/>
          </a:xfrm>
          <a:prstGeom prst="rect">
            <a:avLst/>
          </a:prstGeom>
          <a:noFill/>
          <a:ln/>
        </p:spPr>
        <p:txBody>
          <a:bodyPr wrap="square" lIns="0" tIns="0" rIns="0" bIns="0" rtlCol="0" anchor="ctr"/>
          <a:lstStyle/>
          <a:p>
            <a:pPr algn="ctr" indent="0" marL="0">
              <a:buNone/>
            </a:pPr>
            <a:r>
              <a:rPr lang="en-US" sz="1100" dirty="0">
                <a:solidFill>
                  <a:srgbClr val="DDF0E1"/>
                </a:solidFill>
              </a:rPr>
              <a:t>Firebase</a:t>
            </a:r>
            <a:endParaRPr lang="en-US" sz="1100" dirty="0"/>
          </a:p>
        </p:txBody>
      </p:sp>
      <p:sp>
        <p:nvSpPr>
          <p:cNvPr id="15" name="Shape 13"/>
          <p:cNvSpPr/>
          <p:nvPr/>
        </p:nvSpPr>
        <p:spPr>
          <a:xfrm>
            <a:off x="7040880" y="4114800"/>
            <a:ext cx="1417320" cy="365760"/>
          </a:xfrm>
          <a:prstGeom prst="roundRect">
            <a:avLst>
              <a:gd name="adj" fmla="val 25000"/>
            </a:avLst>
          </a:prstGeom>
          <a:solidFill>
            <a:srgbClr val="3D6B43"/>
          </a:solidFill>
          <a:ln w="12700">
            <a:solidFill>
              <a:srgbClr val="6BAE72"/>
            </a:solidFill>
            <a:prstDash val="solid"/>
          </a:ln>
        </p:spPr>
      </p:sp>
      <p:sp>
        <p:nvSpPr>
          <p:cNvPr id="16" name="Text 14"/>
          <p:cNvSpPr/>
          <p:nvPr/>
        </p:nvSpPr>
        <p:spPr>
          <a:xfrm>
            <a:off x="7040880" y="4114800"/>
            <a:ext cx="1417320" cy="365760"/>
          </a:xfrm>
          <a:prstGeom prst="rect">
            <a:avLst/>
          </a:prstGeom>
          <a:noFill/>
          <a:ln/>
        </p:spPr>
        <p:txBody>
          <a:bodyPr wrap="square" lIns="0" tIns="0" rIns="0" bIns="0" rtlCol="0" anchor="ctr"/>
          <a:lstStyle/>
          <a:p>
            <a:pPr algn="ctr" indent="0" marL="0">
              <a:buNone/>
            </a:pPr>
            <a:r>
              <a:rPr lang="en-US" sz="1100" dirty="0">
                <a:solidFill>
                  <a:srgbClr val="DDF0E1"/>
                </a:solidFill>
              </a:rPr>
              <a:t>Claude API</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8F1"/>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2E5233"/>
          </a:solidFill>
          <a:ln w="12700">
            <a:solidFill>
              <a:srgbClr val="2E5233"/>
            </a:solidFill>
            <a:prstDash val="solid"/>
          </a:ln>
        </p:spPr>
      </p:sp>
      <p:sp>
        <p:nvSpPr>
          <p:cNvPr id="3" name="Text 1"/>
          <p:cNvSpPr/>
          <p:nvPr/>
        </p:nvSpPr>
        <p:spPr>
          <a:xfrm>
            <a:off x="365760" y="45720"/>
            <a:ext cx="7772400" cy="50292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비전 &amp; 문제 정의</a:t>
            </a:r>
            <a:endParaRPr lang="en-US" sz="2400" dirty="0"/>
          </a:p>
        </p:txBody>
      </p:sp>
      <p:sp>
        <p:nvSpPr>
          <p:cNvPr id="4" name="Text 2"/>
          <p:cNvSpPr/>
          <p:nvPr/>
        </p:nvSpPr>
        <p:spPr>
          <a:xfrm>
            <a:off x="365760" y="548640"/>
            <a:ext cx="8229600" cy="320040"/>
          </a:xfrm>
          <a:prstGeom prst="rect">
            <a:avLst/>
          </a:prstGeom>
          <a:noFill/>
          <a:ln/>
        </p:spPr>
        <p:txBody>
          <a:bodyPr wrap="square" lIns="0" tIns="0" rIns="0" bIns="0" rtlCol="0" anchor="ctr"/>
          <a:lstStyle/>
          <a:p>
            <a:pPr indent="0" marL="0">
              <a:buNone/>
            </a:pPr>
            <a:r>
              <a:rPr lang="en-US" sz="1200" dirty="0">
                <a:solidFill>
                  <a:srgbClr val="DDF0E1"/>
                </a:solidFill>
                <a:latin typeface="Arial" pitchFamily="34" charset="0"/>
                <a:ea typeface="Arial" pitchFamily="34" charset="-122"/>
                <a:cs typeface="Arial" pitchFamily="34" charset="-120"/>
              </a:rPr>
              <a:t>왜 이 앱이 필요한가?</a:t>
            </a:r>
            <a:endParaRPr lang="en-US" sz="1200" dirty="0"/>
          </a:p>
        </p:txBody>
      </p:sp>
      <p:sp>
        <p:nvSpPr>
          <p:cNvPr id="5" name="Shape 3"/>
          <p:cNvSpPr/>
          <p:nvPr/>
        </p:nvSpPr>
        <p:spPr>
          <a:xfrm>
            <a:off x="320040" y="1051560"/>
            <a:ext cx="3931920" cy="3611880"/>
          </a:xfrm>
          <a:prstGeom prst="roundRect">
            <a:avLst>
              <a:gd name="adj" fmla="val 2532"/>
            </a:avLst>
          </a:prstGeom>
          <a:solidFill>
            <a:srgbClr val="FFFFFF"/>
          </a:solidFill>
          <a:ln w="12700">
            <a:solidFill>
              <a:srgbClr val="C8E6C9"/>
            </a:solidFill>
            <a:prstDash val="solid"/>
          </a:ln>
          <a:effectLst>
            <a:outerShdw sx="100000" sy="100000" kx="0" ky="0" algn="bl" rotWithShape="0" blurRad="63500" dist="25400" dir="2700000">
              <a:srgbClr val="000000">
                <a:alpha val="12000"/>
              </a:srgbClr>
            </a:outerShdw>
          </a:effectLst>
        </p:spPr>
      </p:sp>
      <p:sp>
        <p:nvSpPr>
          <p:cNvPr id="6" name="Text 4"/>
          <p:cNvSpPr/>
          <p:nvPr/>
        </p:nvSpPr>
        <p:spPr>
          <a:xfrm>
            <a:off x="457200" y="1143000"/>
            <a:ext cx="3657600" cy="411480"/>
          </a:xfrm>
          <a:prstGeom prst="rect">
            <a:avLst/>
          </a:prstGeom>
          <a:noFill/>
          <a:ln/>
        </p:spPr>
        <p:txBody>
          <a:bodyPr wrap="square" rtlCol="0" anchor="ctr"/>
          <a:lstStyle/>
          <a:p>
            <a:pPr indent="0" marL="0">
              <a:buNone/>
            </a:pPr>
            <a:r>
              <a:rPr lang="en-US" sz="1700" b="1" dirty="0">
                <a:solidFill>
                  <a:srgbClr val="2E5233"/>
                </a:solidFill>
                <a:latin typeface="Arial" pitchFamily="34" charset="0"/>
                <a:ea typeface="Arial" pitchFamily="34" charset="-122"/>
                <a:cs typeface="Arial" pitchFamily="34" charset="-120"/>
              </a:rPr>
              <a:t>💡 비전</a:t>
            </a:r>
            <a:endParaRPr lang="en-US" sz="1700" dirty="0"/>
          </a:p>
        </p:txBody>
      </p:sp>
      <p:sp>
        <p:nvSpPr>
          <p:cNvPr id="7" name="Text 5"/>
          <p:cNvSpPr/>
          <p:nvPr/>
        </p:nvSpPr>
        <p:spPr>
          <a:xfrm>
            <a:off x="457200" y="1600200"/>
            <a:ext cx="3657600" cy="1371600"/>
          </a:xfrm>
          <a:prstGeom prst="rect">
            <a:avLst/>
          </a:prstGeom>
          <a:noFill/>
          <a:ln/>
        </p:spPr>
        <p:txBody>
          <a:bodyPr wrap="square" rtlCol="0" anchor="ctr"/>
          <a:lstStyle/>
          <a:p>
            <a:pPr indent="0" marL="0">
              <a:buNone/>
            </a:pPr>
            <a:r>
              <a:rPr lang="en-US" sz="1400" i="1" dirty="0">
                <a:solidFill>
                  <a:srgbClr val="1A2E1C"/>
                </a:solidFill>
                <a:latin typeface="Arial" pitchFamily="34" charset="0"/>
                <a:ea typeface="Arial" pitchFamily="34" charset="-122"/>
                <a:cs typeface="Arial" pitchFamily="34" charset="-120"/>
              </a:rPr>
              <a:t>"감정을 글로 표현하는 것이 어려운 현대인에게,</a:t>
            </a:r>
            <a:endParaRPr lang="en-US" sz="1400" dirty="0"/>
          </a:p>
          <a:p>
            <a:pPr indent="0" marL="0">
              <a:buNone/>
            </a:pPr>
            <a:r>
              <a:rPr lang="en-US" sz="1400" i="1" dirty="0">
                <a:solidFill>
                  <a:srgbClr val="1A2E1C"/>
                </a:solidFill>
                <a:latin typeface="Arial" pitchFamily="34" charset="0"/>
                <a:ea typeface="Arial" pitchFamily="34" charset="-122"/>
                <a:cs typeface="Arial" pitchFamily="34" charset="-120"/>
              </a:rPr>
              <a:t>AI가 먼저 내 감정을 읽고</a:t>
            </a:r>
            <a:endParaRPr lang="en-US" sz="1400" dirty="0"/>
          </a:p>
          <a:p>
            <a:pPr indent="0" marL="0">
              <a:buNone/>
            </a:pPr>
            <a:r>
              <a:rPr lang="en-US" sz="1400" i="1" dirty="0">
                <a:solidFill>
                  <a:srgbClr val="1A2E1C"/>
                </a:solidFill>
                <a:latin typeface="Arial" pitchFamily="34" charset="0"/>
                <a:ea typeface="Arial" pitchFamily="34" charset="-122"/>
                <a:cs typeface="Arial" pitchFamily="34" charset="-120"/>
              </a:rPr>
              <a:t>위로와 인사이트를 건네준다."</a:t>
            </a:r>
            <a:endParaRPr lang="en-US" sz="1400" dirty="0"/>
          </a:p>
        </p:txBody>
      </p:sp>
      <p:sp>
        <p:nvSpPr>
          <p:cNvPr id="8" name="Shape 6"/>
          <p:cNvSpPr/>
          <p:nvPr/>
        </p:nvSpPr>
        <p:spPr>
          <a:xfrm>
            <a:off x="457200" y="3017520"/>
            <a:ext cx="3474720" cy="0"/>
          </a:xfrm>
          <a:prstGeom prst="line">
            <a:avLst/>
          </a:prstGeom>
          <a:noFill/>
          <a:ln w="12700">
            <a:solidFill>
              <a:srgbClr val="C8E6C9"/>
            </a:solidFill>
            <a:prstDash val="solid"/>
          </a:ln>
        </p:spPr>
      </p:sp>
      <p:sp>
        <p:nvSpPr>
          <p:cNvPr id="9" name="Text 7"/>
          <p:cNvSpPr/>
          <p:nvPr/>
        </p:nvSpPr>
        <p:spPr>
          <a:xfrm>
            <a:off x="457200" y="3108960"/>
            <a:ext cx="3566160" cy="731520"/>
          </a:xfrm>
          <a:prstGeom prst="rect">
            <a:avLst/>
          </a:prstGeom>
          <a:noFill/>
          <a:ln/>
        </p:spPr>
        <p:txBody>
          <a:bodyPr wrap="square" rtlCol="0" anchor="ctr"/>
          <a:lstStyle/>
          <a:p>
            <a:pPr indent="0" marL="0">
              <a:buNone/>
            </a:pPr>
            <a:r>
              <a:rPr lang="en-US" sz="1200" dirty="0">
                <a:solidFill>
                  <a:srgbClr val="5A7A5E"/>
                </a:solidFill>
                <a:latin typeface="Arial" pitchFamily="34" charset="0"/>
                <a:ea typeface="Arial" pitchFamily="34" charset="-122"/>
                <a:cs typeface="Arial" pitchFamily="34" charset="-120"/>
              </a:rPr>
              <a:t>→ 일기를 쓰면 AI가 자동으로 감정을 분석하고</a:t>
            </a:r>
            <a:endParaRPr lang="en-US" sz="1200" dirty="0"/>
          </a:p>
          <a:p>
            <a:pPr indent="0" marL="0">
              <a:buNone/>
            </a:pPr>
            <a:r>
              <a:rPr lang="en-US" sz="1200" dirty="0">
                <a:solidFill>
                  <a:srgbClr val="5A7A5E"/>
                </a:solidFill>
                <a:latin typeface="Arial" pitchFamily="34" charset="0"/>
                <a:ea typeface="Arial" pitchFamily="34" charset="-122"/>
                <a:cs typeface="Arial" pitchFamily="34" charset="-120"/>
              </a:rPr>
              <a:t>  위로 메시지를 생성하는 앱</a:t>
            </a:r>
            <a:endParaRPr lang="en-US" sz="1200" dirty="0"/>
          </a:p>
        </p:txBody>
      </p:sp>
      <p:sp>
        <p:nvSpPr>
          <p:cNvPr id="10" name="Shape 8"/>
          <p:cNvSpPr/>
          <p:nvPr/>
        </p:nvSpPr>
        <p:spPr>
          <a:xfrm>
            <a:off x="4434840" y="1051560"/>
            <a:ext cx="4389120" cy="3611880"/>
          </a:xfrm>
          <a:prstGeom prst="roundRect">
            <a:avLst>
              <a:gd name="adj" fmla="val 2532"/>
            </a:avLst>
          </a:prstGeom>
          <a:solidFill>
            <a:srgbClr val="FFFFFF"/>
          </a:solidFill>
          <a:ln w="12700">
            <a:solidFill>
              <a:srgbClr val="C8E6C9"/>
            </a:solidFill>
            <a:prstDash val="solid"/>
          </a:ln>
          <a:effectLst>
            <a:outerShdw sx="100000" sy="100000" kx="0" ky="0" algn="bl" rotWithShape="0" blurRad="63500" dist="25400" dir="2700000">
              <a:srgbClr val="000000">
                <a:alpha val="12000"/>
              </a:srgbClr>
            </a:outerShdw>
          </a:effectLst>
        </p:spPr>
      </p:sp>
      <p:sp>
        <p:nvSpPr>
          <p:cNvPr id="11" name="Text 9"/>
          <p:cNvSpPr/>
          <p:nvPr/>
        </p:nvSpPr>
        <p:spPr>
          <a:xfrm>
            <a:off x="4572000" y="1143000"/>
            <a:ext cx="4023360" cy="411480"/>
          </a:xfrm>
          <a:prstGeom prst="rect">
            <a:avLst/>
          </a:prstGeom>
          <a:noFill/>
          <a:ln/>
        </p:spPr>
        <p:txBody>
          <a:bodyPr wrap="square" rtlCol="0" anchor="ctr"/>
          <a:lstStyle/>
          <a:p>
            <a:pPr indent="0" marL="0">
              <a:buNone/>
            </a:pPr>
            <a:r>
              <a:rPr lang="en-US" sz="1700" b="1" dirty="0">
                <a:solidFill>
                  <a:srgbClr val="2E5233"/>
                </a:solidFill>
                <a:latin typeface="Arial" pitchFamily="34" charset="0"/>
                <a:ea typeface="Arial" pitchFamily="34" charset="-122"/>
                <a:cs typeface="Arial" pitchFamily="34" charset="-120"/>
              </a:rPr>
              <a:t>⚠️ 문제 정의</a:t>
            </a:r>
            <a:endParaRPr lang="en-US" sz="1700" dirty="0"/>
          </a:p>
        </p:txBody>
      </p:sp>
      <p:sp>
        <p:nvSpPr>
          <p:cNvPr id="12" name="Shape 10"/>
          <p:cNvSpPr/>
          <p:nvPr/>
        </p:nvSpPr>
        <p:spPr>
          <a:xfrm>
            <a:off x="4572000" y="1600200"/>
            <a:ext cx="347472" cy="347472"/>
          </a:xfrm>
          <a:prstGeom prst="ellipse">
            <a:avLst/>
          </a:prstGeom>
          <a:solidFill>
            <a:srgbClr val="6BAE72"/>
          </a:solidFill>
          <a:ln w="12700">
            <a:solidFill>
              <a:srgbClr val="6BAE72"/>
            </a:solidFill>
            <a:prstDash val="solid"/>
          </a:ln>
        </p:spPr>
      </p:sp>
      <p:sp>
        <p:nvSpPr>
          <p:cNvPr id="13" name="Text 11"/>
          <p:cNvSpPr/>
          <p:nvPr/>
        </p:nvSpPr>
        <p:spPr>
          <a:xfrm>
            <a:off x="4572000" y="1618488"/>
            <a:ext cx="347472" cy="310896"/>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14" name="Text 12"/>
          <p:cNvSpPr/>
          <p:nvPr/>
        </p:nvSpPr>
        <p:spPr>
          <a:xfrm>
            <a:off x="5029200" y="1600200"/>
            <a:ext cx="3657600" cy="347472"/>
          </a:xfrm>
          <a:prstGeom prst="rect">
            <a:avLst/>
          </a:prstGeom>
          <a:noFill/>
          <a:ln/>
        </p:spPr>
        <p:txBody>
          <a:bodyPr wrap="square" lIns="0" tIns="0" rIns="0" bIns="0" rtlCol="0" anchor="ctr"/>
          <a:lstStyle/>
          <a:p>
            <a:pPr indent="0" marL="0">
              <a:buNone/>
            </a:pPr>
            <a:r>
              <a:rPr lang="en-US" sz="1300" b="1" dirty="0">
                <a:solidFill>
                  <a:srgbClr val="2E5233"/>
                </a:solidFill>
                <a:latin typeface="Arial" pitchFamily="34" charset="0"/>
                <a:ea typeface="Arial" pitchFamily="34" charset="-122"/>
                <a:cs typeface="Arial" pitchFamily="34" charset="-120"/>
              </a:rPr>
              <a:t>😶 감정 표현 어려움</a:t>
            </a:r>
            <a:endParaRPr lang="en-US" sz="1300" dirty="0"/>
          </a:p>
        </p:txBody>
      </p:sp>
      <p:sp>
        <p:nvSpPr>
          <p:cNvPr id="15" name="Text 13"/>
          <p:cNvSpPr/>
          <p:nvPr/>
        </p:nvSpPr>
        <p:spPr>
          <a:xfrm>
            <a:off x="5029200" y="1947672"/>
            <a:ext cx="3657600" cy="347472"/>
          </a:xfrm>
          <a:prstGeom prst="rect">
            <a:avLst/>
          </a:prstGeom>
          <a:noFill/>
          <a:ln/>
        </p:spPr>
        <p:txBody>
          <a:bodyPr wrap="square" lIns="0" tIns="0" rIns="0" bIns="0" rtlCol="0" anchor="ctr"/>
          <a:lstStyle/>
          <a:p>
            <a:pPr indent="0" marL="0">
              <a:buNone/>
            </a:pPr>
            <a:r>
              <a:rPr lang="en-US" sz="1100" dirty="0">
                <a:solidFill>
                  <a:srgbClr val="5A7A5E"/>
                </a:solidFill>
                <a:latin typeface="Arial" pitchFamily="34" charset="0"/>
                <a:ea typeface="Arial" pitchFamily="34" charset="-122"/>
                <a:cs typeface="Arial" pitchFamily="34" charset="-120"/>
              </a:rPr>
              <a:t>감정을 글로 쓰는 것 자체가 막막하다</a:t>
            </a:r>
            <a:endParaRPr lang="en-US" sz="1100" dirty="0"/>
          </a:p>
        </p:txBody>
      </p:sp>
      <p:sp>
        <p:nvSpPr>
          <p:cNvPr id="16" name="Shape 14"/>
          <p:cNvSpPr/>
          <p:nvPr/>
        </p:nvSpPr>
        <p:spPr>
          <a:xfrm>
            <a:off x="4572000" y="2606040"/>
            <a:ext cx="347472" cy="347472"/>
          </a:xfrm>
          <a:prstGeom prst="ellipse">
            <a:avLst/>
          </a:prstGeom>
          <a:solidFill>
            <a:srgbClr val="6BAE72"/>
          </a:solidFill>
          <a:ln w="12700">
            <a:solidFill>
              <a:srgbClr val="6BAE72"/>
            </a:solidFill>
            <a:prstDash val="solid"/>
          </a:ln>
        </p:spPr>
      </p:sp>
      <p:sp>
        <p:nvSpPr>
          <p:cNvPr id="17" name="Text 15"/>
          <p:cNvSpPr/>
          <p:nvPr/>
        </p:nvSpPr>
        <p:spPr>
          <a:xfrm>
            <a:off x="4572000" y="2624328"/>
            <a:ext cx="347472" cy="310896"/>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8" name="Text 16"/>
          <p:cNvSpPr/>
          <p:nvPr/>
        </p:nvSpPr>
        <p:spPr>
          <a:xfrm>
            <a:off x="5029200" y="2606040"/>
            <a:ext cx="3657600" cy="347472"/>
          </a:xfrm>
          <a:prstGeom prst="rect">
            <a:avLst/>
          </a:prstGeom>
          <a:noFill/>
          <a:ln/>
        </p:spPr>
        <p:txBody>
          <a:bodyPr wrap="square" lIns="0" tIns="0" rIns="0" bIns="0" rtlCol="0" anchor="ctr"/>
          <a:lstStyle/>
          <a:p>
            <a:pPr indent="0" marL="0">
              <a:buNone/>
            </a:pPr>
            <a:r>
              <a:rPr lang="en-US" sz="1300" b="1" dirty="0">
                <a:solidFill>
                  <a:srgbClr val="2E5233"/>
                </a:solidFill>
                <a:latin typeface="Arial" pitchFamily="34" charset="0"/>
                <a:ea typeface="Arial" pitchFamily="34" charset="-122"/>
                <a:cs typeface="Arial" pitchFamily="34" charset="-120"/>
              </a:rPr>
              <a:t>📝 일기 지속성 부재</a:t>
            </a:r>
            <a:endParaRPr lang="en-US" sz="1300" dirty="0"/>
          </a:p>
        </p:txBody>
      </p:sp>
      <p:sp>
        <p:nvSpPr>
          <p:cNvPr id="19" name="Text 17"/>
          <p:cNvSpPr/>
          <p:nvPr/>
        </p:nvSpPr>
        <p:spPr>
          <a:xfrm>
            <a:off x="5029200" y="2953512"/>
            <a:ext cx="3657600" cy="347472"/>
          </a:xfrm>
          <a:prstGeom prst="rect">
            <a:avLst/>
          </a:prstGeom>
          <a:noFill/>
          <a:ln/>
        </p:spPr>
        <p:txBody>
          <a:bodyPr wrap="square" lIns="0" tIns="0" rIns="0" bIns="0" rtlCol="0" anchor="ctr"/>
          <a:lstStyle/>
          <a:p>
            <a:pPr indent="0" marL="0">
              <a:buNone/>
            </a:pPr>
            <a:r>
              <a:rPr lang="en-US" sz="1100" dirty="0">
                <a:solidFill>
                  <a:srgbClr val="5A7A5E"/>
                </a:solidFill>
                <a:latin typeface="Arial" pitchFamily="34" charset="0"/>
                <a:ea typeface="Arial" pitchFamily="34" charset="-122"/>
                <a:cs typeface="Arial" pitchFamily="34" charset="-120"/>
              </a:rPr>
              <a:t>쓰고 나서도 '이게 맞나?' 공허함이 남는다</a:t>
            </a:r>
            <a:endParaRPr lang="en-US" sz="1100" dirty="0"/>
          </a:p>
        </p:txBody>
      </p:sp>
      <p:sp>
        <p:nvSpPr>
          <p:cNvPr id="20" name="Shape 18"/>
          <p:cNvSpPr/>
          <p:nvPr/>
        </p:nvSpPr>
        <p:spPr>
          <a:xfrm>
            <a:off x="4572000" y="3611880"/>
            <a:ext cx="347472" cy="347472"/>
          </a:xfrm>
          <a:prstGeom prst="ellipse">
            <a:avLst/>
          </a:prstGeom>
          <a:solidFill>
            <a:srgbClr val="6BAE72"/>
          </a:solidFill>
          <a:ln w="12700">
            <a:solidFill>
              <a:srgbClr val="6BAE72"/>
            </a:solidFill>
            <a:prstDash val="solid"/>
          </a:ln>
        </p:spPr>
      </p:sp>
      <p:sp>
        <p:nvSpPr>
          <p:cNvPr id="21" name="Text 19"/>
          <p:cNvSpPr/>
          <p:nvPr/>
        </p:nvSpPr>
        <p:spPr>
          <a:xfrm>
            <a:off x="4572000" y="3630168"/>
            <a:ext cx="347472" cy="310896"/>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22" name="Text 20"/>
          <p:cNvSpPr/>
          <p:nvPr/>
        </p:nvSpPr>
        <p:spPr>
          <a:xfrm>
            <a:off x="5029200" y="3611880"/>
            <a:ext cx="3657600" cy="347472"/>
          </a:xfrm>
          <a:prstGeom prst="rect">
            <a:avLst/>
          </a:prstGeom>
          <a:noFill/>
          <a:ln/>
        </p:spPr>
        <p:txBody>
          <a:bodyPr wrap="square" lIns="0" tIns="0" rIns="0" bIns="0" rtlCol="0" anchor="ctr"/>
          <a:lstStyle/>
          <a:p>
            <a:pPr indent="0" marL="0">
              <a:buNone/>
            </a:pPr>
            <a:r>
              <a:rPr lang="en-US" sz="1300" b="1" dirty="0">
                <a:solidFill>
                  <a:srgbClr val="2E5233"/>
                </a:solidFill>
                <a:latin typeface="Arial" pitchFamily="34" charset="0"/>
                <a:ea typeface="Arial" pitchFamily="34" charset="-122"/>
                <a:cs typeface="Arial" pitchFamily="34" charset="-120"/>
              </a:rPr>
              <a:t>📊 자기 이해 부족</a:t>
            </a:r>
            <a:endParaRPr lang="en-US" sz="1300" dirty="0"/>
          </a:p>
        </p:txBody>
      </p:sp>
      <p:sp>
        <p:nvSpPr>
          <p:cNvPr id="23" name="Text 21"/>
          <p:cNvSpPr/>
          <p:nvPr/>
        </p:nvSpPr>
        <p:spPr>
          <a:xfrm>
            <a:off x="5029200" y="3959352"/>
            <a:ext cx="3657600" cy="347472"/>
          </a:xfrm>
          <a:prstGeom prst="rect">
            <a:avLst/>
          </a:prstGeom>
          <a:noFill/>
          <a:ln/>
        </p:spPr>
        <p:txBody>
          <a:bodyPr wrap="square" lIns="0" tIns="0" rIns="0" bIns="0" rtlCol="0" anchor="ctr"/>
          <a:lstStyle/>
          <a:p>
            <a:pPr indent="0" marL="0">
              <a:buNone/>
            </a:pPr>
            <a:r>
              <a:rPr lang="en-US" sz="1100" dirty="0">
                <a:solidFill>
                  <a:srgbClr val="5A7A5E"/>
                </a:solidFill>
                <a:latin typeface="Arial" pitchFamily="34" charset="0"/>
                <a:ea typeface="Arial" pitchFamily="34" charset="-122"/>
                <a:cs typeface="Arial" pitchFamily="34" charset="-120"/>
              </a:rPr>
              <a:t>내 감정 패턴을 시각적으로 보기 어렵다</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8F1"/>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2E5233"/>
          </a:solidFill>
          <a:ln w="12700">
            <a:solidFill>
              <a:srgbClr val="2E5233"/>
            </a:solidFill>
            <a:prstDash val="solid"/>
          </a:ln>
        </p:spPr>
      </p:sp>
      <p:sp>
        <p:nvSpPr>
          <p:cNvPr id="3" name="Text 1"/>
          <p:cNvSpPr/>
          <p:nvPr/>
        </p:nvSpPr>
        <p:spPr>
          <a:xfrm>
            <a:off x="365760" y="45720"/>
            <a:ext cx="7772400" cy="50292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프로젝트 계획 — WBS &amp; 기술 스택</a:t>
            </a:r>
            <a:endParaRPr lang="en-US" sz="2400" dirty="0"/>
          </a:p>
        </p:txBody>
      </p:sp>
      <p:sp>
        <p:nvSpPr>
          <p:cNvPr id="4" name="Text 2"/>
          <p:cNvSpPr/>
          <p:nvPr/>
        </p:nvSpPr>
        <p:spPr>
          <a:xfrm>
            <a:off x="365760" y="548640"/>
            <a:ext cx="8229600" cy="320040"/>
          </a:xfrm>
          <a:prstGeom prst="rect">
            <a:avLst/>
          </a:prstGeom>
          <a:noFill/>
          <a:ln/>
        </p:spPr>
        <p:txBody>
          <a:bodyPr wrap="square" lIns="0" tIns="0" rIns="0" bIns="0" rtlCol="0" anchor="ctr"/>
          <a:lstStyle/>
          <a:p>
            <a:pPr indent="0" marL="0">
              <a:buNone/>
            </a:pPr>
            <a:r>
              <a:rPr lang="en-US" sz="1200" dirty="0">
                <a:solidFill>
                  <a:srgbClr val="DDF0E1"/>
                </a:solidFill>
                <a:latin typeface="Arial" pitchFamily="34" charset="0"/>
                <a:ea typeface="Arial" pitchFamily="34" charset="-122"/>
                <a:cs typeface="Arial" pitchFamily="34" charset="-120"/>
              </a:rPr>
              <a:t>6주 일정 + 기술 선택 근거</a:t>
            </a:r>
            <a:endParaRPr lang="en-US" sz="1200" dirty="0"/>
          </a:p>
        </p:txBody>
      </p:sp>
      <p:sp>
        <p:nvSpPr>
          <p:cNvPr id="5" name="Shape 3"/>
          <p:cNvSpPr/>
          <p:nvPr/>
        </p:nvSpPr>
        <p:spPr>
          <a:xfrm>
            <a:off x="320040" y="1051560"/>
            <a:ext cx="4114800" cy="566928"/>
          </a:xfrm>
          <a:prstGeom prst="roundRect">
            <a:avLst>
              <a:gd name="adj" fmla="val 16129"/>
            </a:avLst>
          </a:prstGeom>
          <a:solidFill>
            <a:srgbClr val="FFFFFF"/>
          </a:solidFill>
          <a:ln w="12700">
            <a:solidFill>
              <a:srgbClr val="C8E6C9"/>
            </a:solidFill>
            <a:prstDash val="solid"/>
          </a:ln>
          <a:effectLst>
            <a:outerShdw sx="100000" sy="100000" kx="0" ky="0" algn="bl" rotWithShape="0" blurRad="63500" dist="25400" dir="2700000">
              <a:srgbClr val="000000">
                <a:alpha val="12000"/>
              </a:srgbClr>
            </a:outerShdw>
          </a:effectLst>
        </p:spPr>
      </p:sp>
      <p:sp>
        <p:nvSpPr>
          <p:cNvPr id="6" name="Text 4"/>
          <p:cNvSpPr/>
          <p:nvPr/>
        </p:nvSpPr>
        <p:spPr>
          <a:xfrm>
            <a:off x="411480" y="1161288"/>
            <a:ext cx="640080" cy="347472"/>
          </a:xfrm>
          <a:prstGeom prst="rect">
            <a:avLst/>
          </a:prstGeom>
          <a:noFill/>
          <a:ln/>
        </p:spPr>
        <p:txBody>
          <a:bodyPr wrap="square" lIns="0" tIns="0" rIns="0" bIns="0" rtlCol="0" anchor="ctr"/>
          <a:lstStyle/>
          <a:p>
            <a:pPr algn="ctr" indent="0" marL="0">
              <a:buNone/>
            </a:pPr>
            <a:r>
              <a:rPr lang="en-US" sz="1100" b="1" dirty="0">
                <a:solidFill>
                  <a:srgbClr val="6BAE72"/>
                </a:solidFill>
                <a:latin typeface="Arial" pitchFamily="34" charset="0"/>
                <a:ea typeface="Arial" pitchFamily="34" charset="-122"/>
                <a:cs typeface="Arial" pitchFamily="34" charset="-120"/>
              </a:rPr>
              <a:t>1주</a:t>
            </a:r>
            <a:endParaRPr lang="en-US" sz="1100" dirty="0"/>
          </a:p>
        </p:txBody>
      </p:sp>
      <p:sp>
        <p:nvSpPr>
          <p:cNvPr id="7" name="Text 5"/>
          <p:cNvSpPr/>
          <p:nvPr/>
        </p:nvSpPr>
        <p:spPr>
          <a:xfrm>
            <a:off x="1097280" y="1088136"/>
            <a:ext cx="2103120" cy="274320"/>
          </a:xfrm>
          <a:prstGeom prst="rect">
            <a:avLst/>
          </a:prstGeom>
          <a:noFill/>
          <a:ln/>
        </p:spPr>
        <p:txBody>
          <a:bodyPr wrap="square" lIns="0" tIns="0" rIns="0" bIns="0" rtlCol="0" anchor="ctr"/>
          <a:lstStyle/>
          <a:p>
            <a:pPr indent="0" marL="0">
              <a:buNone/>
            </a:pPr>
            <a:r>
              <a:rPr lang="en-US" sz="1200" b="1" dirty="0">
                <a:solidFill>
                  <a:srgbClr val="2E5233"/>
                </a:solidFill>
                <a:latin typeface="Arial" pitchFamily="34" charset="0"/>
                <a:ea typeface="Arial" pitchFamily="34" charset="-122"/>
                <a:cs typeface="Arial" pitchFamily="34" charset="-120"/>
              </a:rPr>
              <a:t>기획 &amp; 요구사항</a:t>
            </a:r>
            <a:endParaRPr lang="en-US" sz="1200" dirty="0"/>
          </a:p>
        </p:txBody>
      </p:sp>
      <p:sp>
        <p:nvSpPr>
          <p:cNvPr id="8" name="Text 6"/>
          <p:cNvSpPr/>
          <p:nvPr/>
        </p:nvSpPr>
        <p:spPr>
          <a:xfrm>
            <a:off x="1097280" y="1344168"/>
            <a:ext cx="3108960" cy="228600"/>
          </a:xfrm>
          <a:prstGeom prst="rect">
            <a:avLst/>
          </a:prstGeom>
          <a:noFill/>
          <a:ln/>
        </p:spPr>
        <p:txBody>
          <a:bodyPr wrap="square" lIns="0" tIns="0" rIns="0" bIns="0" rtlCol="0" anchor="ctr"/>
          <a:lstStyle/>
          <a:p>
            <a:pPr indent="0" marL="0">
              <a:buNone/>
            </a:pPr>
            <a:r>
              <a:rPr lang="en-US" sz="1000" dirty="0">
                <a:solidFill>
                  <a:srgbClr val="5A7A5E"/>
                </a:solidFill>
                <a:latin typeface="Arial" pitchFamily="34" charset="0"/>
                <a:ea typeface="Arial" pitchFamily="34" charset="-122"/>
                <a:cs typeface="Arial" pitchFamily="34" charset="-120"/>
              </a:rPr>
              <a:t>비전·MoSCoW·사용자 시나리오</a:t>
            </a:r>
            <a:endParaRPr lang="en-US" sz="1000" dirty="0"/>
          </a:p>
        </p:txBody>
      </p:sp>
      <p:sp>
        <p:nvSpPr>
          <p:cNvPr id="9" name="Shape 7"/>
          <p:cNvSpPr/>
          <p:nvPr/>
        </p:nvSpPr>
        <p:spPr>
          <a:xfrm>
            <a:off x="320040" y="1691640"/>
            <a:ext cx="4114800" cy="566928"/>
          </a:xfrm>
          <a:prstGeom prst="roundRect">
            <a:avLst>
              <a:gd name="adj" fmla="val 16129"/>
            </a:avLst>
          </a:prstGeom>
          <a:solidFill>
            <a:srgbClr val="FFFFFF"/>
          </a:solidFill>
          <a:ln w="12700">
            <a:solidFill>
              <a:srgbClr val="C8E6C9"/>
            </a:solidFill>
            <a:prstDash val="solid"/>
          </a:ln>
          <a:effectLst>
            <a:outerShdw sx="100000" sy="100000" kx="0" ky="0" algn="bl" rotWithShape="0" blurRad="63500" dist="25400" dir="2700000">
              <a:srgbClr val="000000">
                <a:alpha val="12000"/>
              </a:srgbClr>
            </a:outerShdw>
          </a:effectLst>
        </p:spPr>
      </p:sp>
      <p:sp>
        <p:nvSpPr>
          <p:cNvPr id="10" name="Text 8"/>
          <p:cNvSpPr/>
          <p:nvPr/>
        </p:nvSpPr>
        <p:spPr>
          <a:xfrm>
            <a:off x="411480" y="1801368"/>
            <a:ext cx="640080" cy="347472"/>
          </a:xfrm>
          <a:prstGeom prst="rect">
            <a:avLst/>
          </a:prstGeom>
          <a:noFill/>
          <a:ln/>
        </p:spPr>
        <p:txBody>
          <a:bodyPr wrap="square" lIns="0" tIns="0" rIns="0" bIns="0" rtlCol="0" anchor="ctr"/>
          <a:lstStyle/>
          <a:p>
            <a:pPr algn="ctr" indent="0" marL="0">
              <a:buNone/>
            </a:pPr>
            <a:r>
              <a:rPr lang="en-US" sz="1100" b="1" dirty="0">
                <a:solidFill>
                  <a:srgbClr val="6BAE72"/>
                </a:solidFill>
                <a:latin typeface="Arial" pitchFamily="34" charset="0"/>
                <a:ea typeface="Arial" pitchFamily="34" charset="-122"/>
                <a:cs typeface="Arial" pitchFamily="34" charset="-120"/>
              </a:rPr>
              <a:t>2주</a:t>
            </a:r>
            <a:endParaRPr lang="en-US" sz="1100" dirty="0"/>
          </a:p>
        </p:txBody>
      </p:sp>
      <p:sp>
        <p:nvSpPr>
          <p:cNvPr id="11" name="Text 9"/>
          <p:cNvSpPr/>
          <p:nvPr/>
        </p:nvSpPr>
        <p:spPr>
          <a:xfrm>
            <a:off x="1097280" y="1728216"/>
            <a:ext cx="2103120" cy="274320"/>
          </a:xfrm>
          <a:prstGeom prst="rect">
            <a:avLst/>
          </a:prstGeom>
          <a:noFill/>
          <a:ln/>
        </p:spPr>
        <p:txBody>
          <a:bodyPr wrap="square" lIns="0" tIns="0" rIns="0" bIns="0" rtlCol="0" anchor="ctr"/>
          <a:lstStyle/>
          <a:p>
            <a:pPr indent="0" marL="0">
              <a:buNone/>
            </a:pPr>
            <a:r>
              <a:rPr lang="en-US" sz="1200" b="1" dirty="0">
                <a:solidFill>
                  <a:srgbClr val="2E5233"/>
                </a:solidFill>
                <a:latin typeface="Arial" pitchFamily="34" charset="0"/>
                <a:ea typeface="Arial" pitchFamily="34" charset="-122"/>
                <a:cs typeface="Arial" pitchFamily="34" charset="-120"/>
              </a:rPr>
              <a:t>설계 &amp; ADR</a:t>
            </a:r>
            <a:endParaRPr lang="en-US" sz="1200" dirty="0"/>
          </a:p>
        </p:txBody>
      </p:sp>
      <p:sp>
        <p:nvSpPr>
          <p:cNvPr id="12" name="Text 10"/>
          <p:cNvSpPr/>
          <p:nvPr/>
        </p:nvSpPr>
        <p:spPr>
          <a:xfrm>
            <a:off x="1097280" y="1984248"/>
            <a:ext cx="3108960" cy="228600"/>
          </a:xfrm>
          <a:prstGeom prst="rect">
            <a:avLst/>
          </a:prstGeom>
          <a:noFill/>
          <a:ln/>
        </p:spPr>
        <p:txBody>
          <a:bodyPr wrap="square" lIns="0" tIns="0" rIns="0" bIns="0" rtlCol="0" anchor="ctr"/>
          <a:lstStyle/>
          <a:p>
            <a:pPr indent="0" marL="0">
              <a:buNone/>
            </a:pPr>
            <a:r>
              <a:rPr lang="en-US" sz="1000" dirty="0">
                <a:solidFill>
                  <a:srgbClr val="5A7A5E"/>
                </a:solidFill>
                <a:latin typeface="Arial" pitchFamily="34" charset="0"/>
                <a:ea typeface="Arial" pitchFamily="34" charset="-122"/>
                <a:cs typeface="Arial" pitchFamily="34" charset="-120"/>
              </a:rPr>
              <a:t>아키텍처·ADR-0001~0003</a:t>
            </a:r>
            <a:endParaRPr lang="en-US" sz="1000" dirty="0"/>
          </a:p>
        </p:txBody>
      </p:sp>
      <p:sp>
        <p:nvSpPr>
          <p:cNvPr id="13" name="Shape 11"/>
          <p:cNvSpPr/>
          <p:nvPr/>
        </p:nvSpPr>
        <p:spPr>
          <a:xfrm>
            <a:off x="320040" y="2331720"/>
            <a:ext cx="4114800" cy="566928"/>
          </a:xfrm>
          <a:prstGeom prst="roundRect">
            <a:avLst>
              <a:gd name="adj" fmla="val 16129"/>
            </a:avLst>
          </a:prstGeom>
          <a:solidFill>
            <a:srgbClr val="FFFFFF"/>
          </a:solidFill>
          <a:ln w="12700">
            <a:solidFill>
              <a:srgbClr val="C8E6C9"/>
            </a:solidFill>
            <a:prstDash val="solid"/>
          </a:ln>
          <a:effectLst>
            <a:outerShdw sx="100000" sy="100000" kx="0" ky="0" algn="bl" rotWithShape="0" blurRad="63500" dist="25400" dir="2700000">
              <a:srgbClr val="000000">
                <a:alpha val="12000"/>
              </a:srgbClr>
            </a:outerShdw>
          </a:effectLst>
        </p:spPr>
      </p:sp>
      <p:sp>
        <p:nvSpPr>
          <p:cNvPr id="14" name="Text 12"/>
          <p:cNvSpPr/>
          <p:nvPr/>
        </p:nvSpPr>
        <p:spPr>
          <a:xfrm>
            <a:off x="411480" y="2441448"/>
            <a:ext cx="640080" cy="347472"/>
          </a:xfrm>
          <a:prstGeom prst="rect">
            <a:avLst/>
          </a:prstGeom>
          <a:noFill/>
          <a:ln/>
        </p:spPr>
        <p:txBody>
          <a:bodyPr wrap="square" lIns="0" tIns="0" rIns="0" bIns="0" rtlCol="0" anchor="ctr"/>
          <a:lstStyle/>
          <a:p>
            <a:pPr algn="ctr" indent="0" marL="0">
              <a:buNone/>
            </a:pPr>
            <a:r>
              <a:rPr lang="en-US" sz="1100" b="1" dirty="0">
                <a:solidFill>
                  <a:srgbClr val="6BAE72"/>
                </a:solidFill>
                <a:latin typeface="Arial" pitchFamily="34" charset="0"/>
                <a:ea typeface="Arial" pitchFamily="34" charset="-122"/>
                <a:cs typeface="Arial" pitchFamily="34" charset="-120"/>
              </a:rPr>
              <a:t>3주</a:t>
            </a:r>
            <a:endParaRPr lang="en-US" sz="1100" dirty="0"/>
          </a:p>
        </p:txBody>
      </p:sp>
      <p:sp>
        <p:nvSpPr>
          <p:cNvPr id="15" name="Text 13"/>
          <p:cNvSpPr/>
          <p:nvPr/>
        </p:nvSpPr>
        <p:spPr>
          <a:xfrm>
            <a:off x="1097280" y="2368296"/>
            <a:ext cx="2103120" cy="274320"/>
          </a:xfrm>
          <a:prstGeom prst="rect">
            <a:avLst/>
          </a:prstGeom>
          <a:noFill/>
          <a:ln/>
        </p:spPr>
        <p:txBody>
          <a:bodyPr wrap="square" lIns="0" tIns="0" rIns="0" bIns="0" rtlCol="0" anchor="ctr"/>
          <a:lstStyle/>
          <a:p>
            <a:pPr indent="0" marL="0">
              <a:buNone/>
            </a:pPr>
            <a:r>
              <a:rPr lang="en-US" sz="1200" b="1" dirty="0">
                <a:solidFill>
                  <a:srgbClr val="2E5233"/>
                </a:solidFill>
                <a:latin typeface="Arial" pitchFamily="34" charset="0"/>
                <a:ea typeface="Arial" pitchFamily="34" charset="-122"/>
                <a:cs typeface="Arial" pitchFamily="34" charset="-120"/>
              </a:rPr>
              <a:t>환경 구축</a:t>
            </a:r>
            <a:endParaRPr lang="en-US" sz="1200" dirty="0"/>
          </a:p>
        </p:txBody>
      </p:sp>
      <p:sp>
        <p:nvSpPr>
          <p:cNvPr id="16" name="Text 14"/>
          <p:cNvSpPr/>
          <p:nvPr/>
        </p:nvSpPr>
        <p:spPr>
          <a:xfrm>
            <a:off x="1097280" y="2624328"/>
            <a:ext cx="3108960" cy="228600"/>
          </a:xfrm>
          <a:prstGeom prst="rect">
            <a:avLst/>
          </a:prstGeom>
          <a:noFill/>
          <a:ln/>
        </p:spPr>
        <p:txBody>
          <a:bodyPr wrap="square" lIns="0" tIns="0" rIns="0" bIns="0" rtlCol="0" anchor="ctr"/>
          <a:lstStyle/>
          <a:p>
            <a:pPr indent="0" marL="0">
              <a:buNone/>
            </a:pPr>
            <a:r>
              <a:rPr lang="en-US" sz="1000" dirty="0">
                <a:solidFill>
                  <a:srgbClr val="5A7A5E"/>
                </a:solidFill>
                <a:latin typeface="Arial" pitchFamily="34" charset="0"/>
                <a:ea typeface="Arial" pitchFamily="34" charset="-122"/>
                <a:cs typeface="Arial" pitchFamily="34" charset="-120"/>
              </a:rPr>
              <a:t>Expo 세팅·Firebase 연동</a:t>
            </a:r>
            <a:endParaRPr lang="en-US" sz="1000" dirty="0"/>
          </a:p>
        </p:txBody>
      </p:sp>
      <p:sp>
        <p:nvSpPr>
          <p:cNvPr id="17" name="Shape 15"/>
          <p:cNvSpPr/>
          <p:nvPr/>
        </p:nvSpPr>
        <p:spPr>
          <a:xfrm>
            <a:off x="320040" y="2971800"/>
            <a:ext cx="4114800" cy="566928"/>
          </a:xfrm>
          <a:prstGeom prst="roundRect">
            <a:avLst>
              <a:gd name="adj" fmla="val 16129"/>
            </a:avLst>
          </a:prstGeom>
          <a:solidFill>
            <a:srgbClr val="DDF0E1"/>
          </a:solidFill>
          <a:ln w="12700">
            <a:solidFill>
              <a:srgbClr val="C8E6C9"/>
            </a:solidFill>
            <a:prstDash val="solid"/>
          </a:ln>
          <a:effectLst>
            <a:outerShdw sx="100000" sy="100000" kx="0" ky="0" algn="bl" rotWithShape="0" blurRad="63500" dist="25400" dir="2700000">
              <a:srgbClr val="000000">
                <a:alpha val="12000"/>
              </a:srgbClr>
            </a:outerShdw>
          </a:effectLst>
        </p:spPr>
      </p:sp>
      <p:sp>
        <p:nvSpPr>
          <p:cNvPr id="18" name="Text 16"/>
          <p:cNvSpPr/>
          <p:nvPr/>
        </p:nvSpPr>
        <p:spPr>
          <a:xfrm>
            <a:off x="411480" y="3081528"/>
            <a:ext cx="640080" cy="347472"/>
          </a:xfrm>
          <a:prstGeom prst="rect">
            <a:avLst/>
          </a:prstGeom>
          <a:noFill/>
          <a:ln/>
        </p:spPr>
        <p:txBody>
          <a:bodyPr wrap="square" lIns="0" tIns="0" rIns="0" bIns="0" rtlCol="0" anchor="ctr"/>
          <a:lstStyle/>
          <a:p>
            <a:pPr algn="ctr" indent="0" marL="0">
              <a:buNone/>
            </a:pPr>
            <a:r>
              <a:rPr lang="en-US" sz="1100" b="1" dirty="0">
                <a:solidFill>
                  <a:srgbClr val="6BAE72"/>
                </a:solidFill>
                <a:latin typeface="Arial" pitchFamily="34" charset="0"/>
                <a:ea typeface="Arial" pitchFamily="34" charset="-122"/>
                <a:cs typeface="Arial" pitchFamily="34" charset="-120"/>
              </a:rPr>
              <a:t>4주</a:t>
            </a:r>
            <a:endParaRPr lang="en-US" sz="1100" dirty="0"/>
          </a:p>
        </p:txBody>
      </p:sp>
      <p:sp>
        <p:nvSpPr>
          <p:cNvPr id="19" name="Text 17"/>
          <p:cNvSpPr/>
          <p:nvPr/>
        </p:nvSpPr>
        <p:spPr>
          <a:xfrm>
            <a:off x="1097280" y="3008376"/>
            <a:ext cx="2103120" cy="274320"/>
          </a:xfrm>
          <a:prstGeom prst="rect">
            <a:avLst/>
          </a:prstGeom>
          <a:noFill/>
          <a:ln/>
        </p:spPr>
        <p:txBody>
          <a:bodyPr wrap="square" lIns="0" tIns="0" rIns="0" bIns="0" rtlCol="0" anchor="ctr"/>
          <a:lstStyle/>
          <a:p>
            <a:pPr indent="0" marL="0">
              <a:buNone/>
            </a:pPr>
            <a:r>
              <a:rPr lang="en-US" sz="1200" b="1" dirty="0">
                <a:solidFill>
                  <a:srgbClr val="2E5233"/>
                </a:solidFill>
                <a:latin typeface="Arial" pitchFamily="34" charset="0"/>
                <a:ea typeface="Arial" pitchFamily="34" charset="-122"/>
                <a:cs typeface="Arial" pitchFamily="34" charset="-120"/>
              </a:rPr>
              <a:t>핵심 구현</a:t>
            </a:r>
            <a:endParaRPr lang="en-US" sz="1200" dirty="0"/>
          </a:p>
        </p:txBody>
      </p:sp>
      <p:sp>
        <p:nvSpPr>
          <p:cNvPr id="20" name="Text 18"/>
          <p:cNvSpPr/>
          <p:nvPr/>
        </p:nvSpPr>
        <p:spPr>
          <a:xfrm>
            <a:off x="1097280" y="3264408"/>
            <a:ext cx="3108960" cy="228600"/>
          </a:xfrm>
          <a:prstGeom prst="rect">
            <a:avLst/>
          </a:prstGeom>
          <a:noFill/>
          <a:ln/>
        </p:spPr>
        <p:txBody>
          <a:bodyPr wrap="square" lIns="0" tIns="0" rIns="0" bIns="0" rtlCol="0" anchor="ctr"/>
          <a:lstStyle/>
          <a:p>
            <a:pPr indent="0" marL="0">
              <a:buNone/>
            </a:pPr>
            <a:r>
              <a:rPr lang="en-US" sz="1000" dirty="0">
                <a:solidFill>
                  <a:srgbClr val="5A7A5E"/>
                </a:solidFill>
                <a:latin typeface="Arial" pitchFamily="34" charset="0"/>
                <a:ea typeface="Arial" pitchFamily="34" charset="-122"/>
                <a:cs typeface="Arial" pitchFamily="34" charset="-120"/>
              </a:rPr>
              <a:t>일기 작성·Claude API 연동</a:t>
            </a:r>
            <a:endParaRPr lang="en-US" sz="1000" dirty="0"/>
          </a:p>
        </p:txBody>
      </p:sp>
      <p:sp>
        <p:nvSpPr>
          <p:cNvPr id="21" name="Shape 19"/>
          <p:cNvSpPr/>
          <p:nvPr/>
        </p:nvSpPr>
        <p:spPr>
          <a:xfrm>
            <a:off x="320040" y="3611880"/>
            <a:ext cx="4114800" cy="566928"/>
          </a:xfrm>
          <a:prstGeom prst="roundRect">
            <a:avLst>
              <a:gd name="adj" fmla="val 16129"/>
            </a:avLst>
          </a:prstGeom>
          <a:solidFill>
            <a:srgbClr val="DDF0E1"/>
          </a:solidFill>
          <a:ln w="12700">
            <a:solidFill>
              <a:srgbClr val="C8E6C9"/>
            </a:solidFill>
            <a:prstDash val="solid"/>
          </a:ln>
          <a:effectLst>
            <a:outerShdw sx="100000" sy="100000" kx="0" ky="0" algn="bl" rotWithShape="0" blurRad="63500" dist="25400" dir="2700000">
              <a:srgbClr val="000000">
                <a:alpha val="12000"/>
              </a:srgbClr>
            </a:outerShdw>
          </a:effectLst>
        </p:spPr>
      </p:sp>
      <p:sp>
        <p:nvSpPr>
          <p:cNvPr id="22" name="Text 20"/>
          <p:cNvSpPr/>
          <p:nvPr/>
        </p:nvSpPr>
        <p:spPr>
          <a:xfrm>
            <a:off x="411480" y="3721608"/>
            <a:ext cx="640080" cy="347472"/>
          </a:xfrm>
          <a:prstGeom prst="rect">
            <a:avLst/>
          </a:prstGeom>
          <a:noFill/>
          <a:ln/>
        </p:spPr>
        <p:txBody>
          <a:bodyPr wrap="square" lIns="0" tIns="0" rIns="0" bIns="0" rtlCol="0" anchor="ctr"/>
          <a:lstStyle/>
          <a:p>
            <a:pPr algn="ctr" indent="0" marL="0">
              <a:buNone/>
            </a:pPr>
            <a:r>
              <a:rPr lang="en-US" sz="1100" b="1" dirty="0">
                <a:solidFill>
                  <a:srgbClr val="6BAE72"/>
                </a:solidFill>
                <a:latin typeface="Arial" pitchFamily="34" charset="0"/>
                <a:ea typeface="Arial" pitchFamily="34" charset="-122"/>
                <a:cs typeface="Arial" pitchFamily="34" charset="-120"/>
              </a:rPr>
              <a:t>5주</a:t>
            </a:r>
            <a:endParaRPr lang="en-US" sz="1100" dirty="0"/>
          </a:p>
        </p:txBody>
      </p:sp>
      <p:sp>
        <p:nvSpPr>
          <p:cNvPr id="23" name="Text 21"/>
          <p:cNvSpPr/>
          <p:nvPr/>
        </p:nvSpPr>
        <p:spPr>
          <a:xfrm>
            <a:off x="1097280" y="3648456"/>
            <a:ext cx="2103120" cy="274320"/>
          </a:xfrm>
          <a:prstGeom prst="rect">
            <a:avLst/>
          </a:prstGeom>
          <a:noFill/>
          <a:ln/>
        </p:spPr>
        <p:txBody>
          <a:bodyPr wrap="square" lIns="0" tIns="0" rIns="0" bIns="0" rtlCol="0" anchor="ctr"/>
          <a:lstStyle/>
          <a:p>
            <a:pPr indent="0" marL="0">
              <a:buNone/>
            </a:pPr>
            <a:r>
              <a:rPr lang="en-US" sz="1200" b="1" dirty="0">
                <a:solidFill>
                  <a:srgbClr val="2E5233"/>
                </a:solidFill>
                <a:latin typeface="Arial" pitchFamily="34" charset="0"/>
                <a:ea typeface="Arial" pitchFamily="34" charset="-122"/>
                <a:cs typeface="Arial" pitchFamily="34" charset="-120"/>
              </a:rPr>
              <a:t>테스트 &amp; 디버깅</a:t>
            </a:r>
            <a:endParaRPr lang="en-US" sz="1200" dirty="0"/>
          </a:p>
        </p:txBody>
      </p:sp>
      <p:sp>
        <p:nvSpPr>
          <p:cNvPr id="24" name="Text 22"/>
          <p:cNvSpPr/>
          <p:nvPr/>
        </p:nvSpPr>
        <p:spPr>
          <a:xfrm>
            <a:off x="1097280" y="3904488"/>
            <a:ext cx="3108960" cy="228600"/>
          </a:xfrm>
          <a:prstGeom prst="rect">
            <a:avLst/>
          </a:prstGeom>
          <a:noFill/>
          <a:ln/>
        </p:spPr>
        <p:txBody>
          <a:bodyPr wrap="square" lIns="0" tIns="0" rIns="0" bIns="0" rtlCol="0" anchor="ctr"/>
          <a:lstStyle/>
          <a:p>
            <a:pPr indent="0" marL="0">
              <a:buNone/>
            </a:pPr>
            <a:r>
              <a:rPr lang="en-US" sz="1000" dirty="0">
                <a:solidFill>
                  <a:srgbClr val="5A7A5E"/>
                </a:solidFill>
                <a:latin typeface="Arial" pitchFamily="34" charset="0"/>
                <a:ea typeface="Arial" pitchFamily="34" charset="-122"/>
                <a:cs typeface="Arial" pitchFamily="34" charset="-120"/>
              </a:rPr>
              <a:t>의존성 충돌 해결·기능 완성</a:t>
            </a:r>
            <a:endParaRPr lang="en-US" sz="1000" dirty="0"/>
          </a:p>
        </p:txBody>
      </p:sp>
      <p:sp>
        <p:nvSpPr>
          <p:cNvPr id="25" name="Shape 23"/>
          <p:cNvSpPr/>
          <p:nvPr/>
        </p:nvSpPr>
        <p:spPr>
          <a:xfrm>
            <a:off x="320040" y="4251960"/>
            <a:ext cx="4114800" cy="566928"/>
          </a:xfrm>
          <a:prstGeom prst="roundRect">
            <a:avLst>
              <a:gd name="adj" fmla="val 16129"/>
            </a:avLst>
          </a:prstGeom>
          <a:solidFill>
            <a:srgbClr val="DDF0E1"/>
          </a:solidFill>
          <a:ln w="12700">
            <a:solidFill>
              <a:srgbClr val="C8E6C9"/>
            </a:solidFill>
            <a:prstDash val="solid"/>
          </a:ln>
          <a:effectLst>
            <a:outerShdw sx="100000" sy="100000" kx="0" ky="0" algn="bl" rotWithShape="0" blurRad="63500" dist="25400" dir="2700000">
              <a:srgbClr val="000000">
                <a:alpha val="12000"/>
              </a:srgbClr>
            </a:outerShdw>
          </a:effectLst>
        </p:spPr>
      </p:sp>
      <p:sp>
        <p:nvSpPr>
          <p:cNvPr id="26" name="Text 24"/>
          <p:cNvSpPr/>
          <p:nvPr/>
        </p:nvSpPr>
        <p:spPr>
          <a:xfrm>
            <a:off x="411480" y="4361688"/>
            <a:ext cx="640080" cy="347472"/>
          </a:xfrm>
          <a:prstGeom prst="rect">
            <a:avLst/>
          </a:prstGeom>
          <a:noFill/>
          <a:ln/>
        </p:spPr>
        <p:txBody>
          <a:bodyPr wrap="square" lIns="0" tIns="0" rIns="0" bIns="0" rtlCol="0" anchor="ctr"/>
          <a:lstStyle/>
          <a:p>
            <a:pPr algn="ctr" indent="0" marL="0">
              <a:buNone/>
            </a:pPr>
            <a:r>
              <a:rPr lang="en-US" sz="1100" b="1" dirty="0">
                <a:solidFill>
                  <a:srgbClr val="6BAE72"/>
                </a:solidFill>
                <a:latin typeface="Arial" pitchFamily="34" charset="0"/>
                <a:ea typeface="Arial" pitchFamily="34" charset="-122"/>
                <a:cs typeface="Arial" pitchFamily="34" charset="-120"/>
              </a:rPr>
              <a:t>6주</a:t>
            </a:r>
            <a:endParaRPr lang="en-US" sz="1100" dirty="0"/>
          </a:p>
        </p:txBody>
      </p:sp>
      <p:sp>
        <p:nvSpPr>
          <p:cNvPr id="27" name="Text 25"/>
          <p:cNvSpPr/>
          <p:nvPr/>
        </p:nvSpPr>
        <p:spPr>
          <a:xfrm>
            <a:off x="1097280" y="4288536"/>
            <a:ext cx="2103120" cy="274320"/>
          </a:xfrm>
          <a:prstGeom prst="rect">
            <a:avLst/>
          </a:prstGeom>
          <a:noFill/>
          <a:ln/>
        </p:spPr>
        <p:txBody>
          <a:bodyPr wrap="square" lIns="0" tIns="0" rIns="0" bIns="0" rtlCol="0" anchor="ctr"/>
          <a:lstStyle/>
          <a:p>
            <a:pPr indent="0" marL="0">
              <a:buNone/>
            </a:pPr>
            <a:r>
              <a:rPr lang="en-US" sz="1200" b="1" dirty="0">
                <a:solidFill>
                  <a:srgbClr val="2E5233"/>
                </a:solidFill>
                <a:latin typeface="Arial" pitchFamily="34" charset="0"/>
                <a:ea typeface="Arial" pitchFamily="34" charset="-122"/>
                <a:cs typeface="Arial" pitchFamily="34" charset="-120"/>
              </a:rPr>
              <a:t>문서화 &amp; 배포</a:t>
            </a:r>
            <a:endParaRPr lang="en-US" sz="1200" dirty="0"/>
          </a:p>
        </p:txBody>
      </p:sp>
      <p:sp>
        <p:nvSpPr>
          <p:cNvPr id="28" name="Text 26"/>
          <p:cNvSpPr/>
          <p:nvPr/>
        </p:nvSpPr>
        <p:spPr>
          <a:xfrm>
            <a:off x="1097280" y="4544568"/>
            <a:ext cx="3108960" cy="228600"/>
          </a:xfrm>
          <a:prstGeom prst="rect">
            <a:avLst/>
          </a:prstGeom>
          <a:noFill/>
          <a:ln/>
        </p:spPr>
        <p:txBody>
          <a:bodyPr wrap="square" lIns="0" tIns="0" rIns="0" bIns="0" rtlCol="0" anchor="ctr"/>
          <a:lstStyle/>
          <a:p>
            <a:pPr indent="0" marL="0">
              <a:buNone/>
            </a:pPr>
            <a:r>
              <a:rPr lang="en-US" sz="1000" dirty="0">
                <a:solidFill>
                  <a:srgbClr val="5A7A5E"/>
                </a:solidFill>
                <a:latin typeface="Arial" pitchFamily="34" charset="0"/>
                <a:ea typeface="Arial" pitchFamily="34" charset="-122"/>
                <a:cs typeface="Arial" pitchFamily="34" charset="-120"/>
              </a:rPr>
              <a:t>README·docs·최종 발표</a:t>
            </a:r>
            <a:endParaRPr lang="en-US" sz="1000" dirty="0"/>
          </a:p>
        </p:txBody>
      </p:sp>
      <p:sp>
        <p:nvSpPr>
          <p:cNvPr id="29" name="Shape 27"/>
          <p:cNvSpPr/>
          <p:nvPr/>
        </p:nvSpPr>
        <p:spPr>
          <a:xfrm>
            <a:off x="4663440" y="1051560"/>
            <a:ext cx="2011680" cy="1691640"/>
          </a:xfrm>
          <a:prstGeom prst="roundRect">
            <a:avLst>
              <a:gd name="adj" fmla="val 5405"/>
            </a:avLst>
          </a:prstGeom>
          <a:solidFill>
            <a:srgbClr val="FFFFFF"/>
          </a:solidFill>
          <a:ln w="12700">
            <a:solidFill>
              <a:srgbClr val="C8E6C9"/>
            </a:solidFill>
            <a:prstDash val="solid"/>
          </a:ln>
          <a:effectLst>
            <a:outerShdw sx="100000" sy="100000" kx="0" ky="0" algn="bl" rotWithShape="0" blurRad="63500" dist="25400" dir="2700000">
              <a:srgbClr val="000000">
                <a:alpha val="12000"/>
              </a:srgbClr>
            </a:outerShdw>
          </a:effectLst>
        </p:spPr>
      </p:sp>
      <p:sp>
        <p:nvSpPr>
          <p:cNvPr id="30" name="Shape 28"/>
          <p:cNvSpPr/>
          <p:nvPr/>
        </p:nvSpPr>
        <p:spPr>
          <a:xfrm>
            <a:off x="4800600" y="1161288"/>
            <a:ext cx="1737360" cy="411480"/>
          </a:xfrm>
          <a:prstGeom prst="roundRect">
            <a:avLst>
              <a:gd name="adj" fmla="val 17778"/>
            </a:avLst>
          </a:prstGeom>
          <a:solidFill>
            <a:srgbClr val="6BAE72"/>
          </a:solidFill>
          <a:ln w="12700">
            <a:solidFill>
              <a:srgbClr val="6BAE72"/>
            </a:solidFill>
            <a:prstDash val="solid"/>
          </a:ln>
        </p:spPr>
      </p:sp>
      <p:sp>
        <p:nvSpPr>
          <p:cNvPr id="31" name="Text 29"/>
          <p:cNvSpPr/>
          <p:nvPr/>
        </p:nvSpPr>
        <p:spPr>
          <a:xfrm>
            <a:off x="4800600" y="1161288"/>
            <a:ext cx="1737360" cy="411480"/>
          </a:xfrm>
          <a:prstGeom prst="rect">
            <a:avLst/>
          </a:prstGeom>
          <a:noFill/>
          <a:ln/>
        </p:spPr>
        <p:txBody>
          <a:bodyPr wrap="square" lIns="0" tIns="0" rIns="0" bIns="0" rtlCol="0" anchor="ctr"/>
          <a:lstStyle/>
          <a:p>
            <a:pPr algn="ctr" indent="0" marL="0">
              <a:buNone/>
            </a:pPr>
            <a:r>
              <a:rPr lang="en-US" sz="1100" b="1" dirty="0">
                <a:solidFill>
                  <a:srgbClr val="FFFFFF"/>
                </a:solidFill>
              </a:rPr>
              <a:t>React Native</a:t>
            </a:r>
            <a:endParaRPr lang="en-US" sz="1100" dirty="0"/>
          </a:p>
          <a:p>
            <a:pPr algn="ctr" indent="0" marL="0">
              <a:buNone/>
            </a:pPr>
            <a:r>
              <a:rPr lang="en-US" sz="1100" b="1" dirty="0">
                <a:solidFill>
                  <a:srgbClr val="FFFFFF"/>
                </a:solidFill>
              </a:rPr>
              <a:t>+ Expo SDK 54</a:t>
            </a:r>
            <a:endParaRPr lang="en-US" sz="1100" dirty="0"/>
          </a:p>
        </p:txBody>
      </p:sp>
      <p:sp>
        <p:nvSpPr>
          <p:cNvPr id="32" name="Text 30"/>
          <p:cNvSpPr/>
          <p:nvPr/>
        </p:nvSpPr>
        <p:spPr>
          <a:xfrm>
            <a:off x="4800600" y="1645920"/>
            <a:ext cx="1737360" cy="914400"/>
          </a:xfrm>
          <a:prstGeom prst="rect">
            <a:avLst/>
          </a:prstGeom>
          <a:noFill/>
          <a:ln/>
        </p:spPr>
        <p:txBody>
          <a:bodyPr wrap="square" rtlCol="0" anchor="ctr"/>
          <a:lstStyle/>
          <a:p>
            <a:pPr algn="ctr" indent="0" marL="0">
              <a:buNone/>
            </a:pPr>
            <a:r>
              <a:rPr lang="en-US" sz="1100" dirty="0">
                <a:solidFill>
                  <a:srgbClr val="1A2E1C"/>
                </a:solidFill>
                <a:latin typeface="Arial" pitchFamily="34" charset="0"/>
                <a:ea typeface="Arial" pitchFamily="34" charset="-122"/>
                <a:cs typeface="Arial" pitchFamily="34" charset="-120"/>
              </a:rPr>
              <a:t>크로스플랫폼</a:t>
            </a:r>
            <a:endParaRPr lang="en-US" sz="1100" dirty="0"/>
          </a:p>
          <a:p>
            <a:pPr algn="ctr" indent="0" marL="0">
              <a:buNone/>
            </a:pPr>
            <a:r>
              <a:rPr lang="en-US" sz="1100" dirty="0">
                <a:solidFill>
                  <a:srgbClr val="1A2E1C"/>
                </a:solidFill>
                <a:latin typeface="Arial" pitchFamily="34" charset="0"/>
                <a:ea typeface="Arial" pitchFamily="34" charset="-122"/>
                <a:cs typeface="Arial" pitchFamily="34" charset="-120"/>
              </a:rPr>
              <a:t>즉시 테스트 (Expo Go)</a:t>
            </a:r>
            <a:endParaRPr lang="en-US" sz="1100" dirty="0"/>
          </a:p>
        </p:txBody>
      </p:sp>
      <p:sp>
        <p:nvSpPr>
          <p:cNvPr id="33" name="Shape 31"/>
          <p:cNvSpPr/>
          <p:nvPr/>
        </p:nvSpPr>
        <p:spPr>
          <a:xfrm>
            <a:off x="6812280" y="1051560"/>
            <a:ext cx="2011680" cy="1691640"/>
          </a:xfrm>
          <a:prstGeom prst="roundRect">
            <a:avLst>
              <a:gd name="adj" fmla="val 5405"/>
            </a:avLst>
          </a:prstGeom>
          <a:solidFill>
            <a:srgbClr val="FFFFFF"/>
          </a:solidFill>
          <a:ln w="12700">
            <a:solidFill>
              <a:srgbClr val="C8E6C9"/>
            </a:solidFill>
            <a:prstDash val="solid"/>
          </a:ln>
          <a:effectLst>
            <a:outerShdw sx="100000" sy="100000" kx="0" ky="0" algn="bl" rotWithShape="0" blurRad="63500" dist="25400" dir="2700000">
              <a:srgbClr val="000000">
                <a:alpha val="12000"/>
              </a:srgbClr>
            </a:outerShdw>
          </a:effectLst>
        </p:spPr>
      </p:sp>
      <p:sp>
        <p:nvSpPr>
          <p:cNvPr id="34" name="Shape 32"/>
          <p:cNvSpPr/>
          <p:nvPr/>
        </p:nvSpPr>
        <p:spPr>
          <a:xfrm>
            <a:off x="6949440" y="1161288"/>
            <a:ext cx="1737360" cy="411480"/>
          </a:xfrm>
          <a:prstGeom prst="roundRect">
            <a:avLst>
              <a:gd name="adj" fmla="val 17778"/>
            </a:avLst>
          </a:prstGeom>
          <a:solidFill>
            <a:srgbClr val="4A9055"/>
          </a:solidFill>
          <a:ln w="12700">
            <a:solidFill>
              <a:srgbClr val="4A9055"/>
            </a:solidFill>
            <a:prstDash val="solid"/>
          </a:ln>
        </p:spPr>
      </p:sp>
      <p:sp>
        <p:nvSpPr>
          <p:cNvPr id="35" name="Text 33"/>
          <p:cNvSpPr/>
          <p:nvPr/>
        </p:nvSpPr>
        <p:spPr>
          <a:xfrm>
            <a:off x="6949440" y="1161288"/>
            <a:ext cx="1737360" cy="411480"/>
          </a:xfrm>
          <a:prstGeom prst="rect">
            <a:avLst/>
          </a:prstGeom>
          <a:noFill/>
          <a:ln/>
        </p:spPr>
        <p:txBody>
          <a:bodyPr wrap="square" lIns="0" tIns="0" rIns="0" bIns="0" rtlCol="0" anchor="ctr"/>
          <a:lstStyle/>
          <a:p>
            <a:pPr algn="ctr" indent="0" marL="0">
              <a:buNone/>
            </a:pPr>
            <a:r>
              <a:rPr lang="en-US" sz="1100" b="1" dirty="0">
                <a:solidFill>
                  <a:srgbClr val="FFFFFF"/>
                </a:solidFill>
              </a:rPr>
              <a:t>Zustand</a:t>
            </a:r>
            <a:endParaRPr lang="en-US" sz="1100" dirty="0"/>
          </a:p>
        </p:txBody>
      </p:sp>
      <p:sp>
        <p:nvSpPr>
          <p:cNvPr id="36" name="Text 34"/>
          <p:cNvSpPr/>
          <p:nvPr/>
        </p:nvSpPr>
        <p:spPr>
          <a:xfrm>
            <a:off x="6949440" y="1645920"/>
            <a:ext cx="1737360" cy="914400"/>
          </a:xfrm>
          <a:prstGeom prst="rect">
            <a:avLst/>
          </a:prstGeom>
          <a:noFill/>
          <a:ln/>
        </p:spPr>
        <p:txBody>
          <a:bodyPr wrap="square" rtlCol="0" anchor="ctr"/>
          <a:lstStyle/>
          <a:p>
            <a:pPr algn="ctr" indent="0" marL="0">
              <a:buNone/>
            </a:pPr>
            <a:r>
              <a:rPr lang="en-US" sz="1100" dirty="0">
                <a:solidFill>
                  <a:srgbClr val="1A2E1C"/>
                </a:solidFill>
                <a:latin typeface="Arial" pitchFamily="34" charset="0"/>
                <a:ea typeface="Arial" pitchFamily="34" charset="-122"/>
                <a:cs typeface="Arial" pitchFamily="34" charset="-120"/>
              </a:rPr>
              <a:t>경량 상태관리</a:t>
            </a:r>
            <a:endParaRPr lang="en-US" sz="1100" dirty="0"/>
          </a:p>
          <a:p>
            <a:pPr algn="ctr" indent="0" marL="0">
              <a:buNone/>
            </a:pPr>
            <a:r>
              <a:rPr lang="en-US" sz="1100" dirty="0">
                <a:solidFill>
                  <a:srgbClr val="1A2E1C"/>
                </a:solidFill>
                <a:latin typeface="Arial" pitchFamily="34" charset="0"/>
                <a:ea typeface="Arial" pitchFamily="34" charset="-122"/>
                <a:cs typeface="Arial" pitchFamily="34" charset="-120"/>
              </a:rPr>
              <a:t>boilerplate 없음</a:t>
            </a:r>
            <a:endParaRPr lang="en-US" sz="1100" dirty="0"/>
          </a:p>
        </p:txBody>
      </p:sp>
      <p:sp>
        <p:nvSpPr>
          <p:cNvPr id="37" name="Shape 35"/>
          <p:cNvSpPr/>
          <p:nvPr/>
        </p:nvSpPr>
        <p:spPr>
          <a:xfrm>
            <a:off x="4663440" y="2971800"/>
            <a:ext cx="2011680" cy="1691640"/>
          </a:xfrm>
          <a:prstGeom prst="roundRect">
            <a:avLst>
              <a:gd name="adj" fmla="val 5405"/>
            </a:avLst>
          </a:prstGeom>
          <a:solidFill>
            <a:srgbClr val="FFFFFF"/>
          </a:solidFill>
          <a:ln w="12700">
            <a:solidFill>
              <a:srgbClr val="C8E6C9"/>
            </a:solidFill>
            <a:prstDash val="solid"/>
          </a:ln>
          <a:effectLst>
            <a:outerShdw sx="100000" sy="100000" kx="0" ky="0" algn="bl" rotWithShape="0" blurRad="63500" dist="25400" dir="2700000">
              <a:srgbClr val="000000">
                <a:alpha val="12000"/>
              </a:srgbClr>
            </a:outerShdw>
          </a:effectLst>
        </p:spPr>
      </p:sp>
      <p:sp>
        <p:nvSpPr>
          <p:cNvPr id="38" name="Shape 36"/>
          <p:cNvSpPr/>
          <p:nvPr/>
        </p:nvSpPr>
        <p:spPr>
          <a:xfrm>
            <a:off x="4800600" y="3081528"/>
            <a:ext cx="1737360" cy="411480"/>
          </a:xfrm>
          <a:prstGeom prst="roundRect">
            <a:avLst>
              <a:gd name="adj" fmla="val 17778"/>
            </a:avLst>
          </a:prstGeom>
          <a:solidFill>
            <a:srgbClr val="E67E22"/>
          </a:solidFill>
          <a:ln w="12700">
            <a:solidFill>
              <a:srgbClr val="E67E22"/>
            </a:solidFill>
            <a:prstDash val="solid"/>
          </a:ln>
        </p:spPr>
      </p:sp>
      <p:sp>
        <p:nvSpPr>
          <p:cNvPr id="39" name="Text 37"/>
          <p:cNvSpPr/>
          <p:nvPr/>
        </p:nvSpPr>
        <p:spPr>
          <a:xfrm>
            <a:off x="4800600" y="3081528"/>
            <a:ext cx="1737360" cy="411480"/>
          </a:xfrm>
          <a:prstGeom prst="rect">
            <a:avLst/>
          </a:prstGeom>
          <a:noFill/>
          <a:ln/>
        </p:spPr>
        <p:txBody>
          <a:bodyPr wrap="square" lIns="0" tIns="0" rIns="0" bIns="0" rtlCol="0" anchor="ctr"/>
          <a:lstStyle/>
          <a:p>
            <a:pPr algn="ctr" indent="0" marL="0">
              <a:buNone/>
            </a:pPr>
            <a:r>
              <a:rPr lang="en-US" sz="1100" b="1" dirty="0">
                <a:solidFill>
                  <a:srgbClr val="FFFFFF"/>
                </a:solidFill>
              </a:rPr>
              <a:t>Firebase</a:t>
            </a:r>
            <a:endParaRPr lang="en-US" sz="1100" dirty="0"/>
          </a:p>
        </p:txBody>
      </p:sp>
      <p:sp>
        <p:nvSpPr>
          <p:cNvPr id="40" name="Text 38"/>
          <p:cNvSpPr/>
          <p:nvPr/>
        </p:nvSpPr>
        <p:spPr>
          <a:xfrm>
            <a:off x="4800600" y="3566160"/>
            <a:ext cx="1737360" cy="914400"/>
          </a:xfrm>
          <a:prstGeom prst="rect">
            <a:avLst/>
          </a:prstGeom>
          <a:noFill/>
          <a:ln/>
        </p:spPr>
        <p:txBody>
          <a:bodyPr wrap="square" rtlCol="0" anchor="ctr"/>
          <a:lstStyle/>
          <a:p>
            <a:pPr algn="ctr" indent="0" marL="0">
              <a:buNone/>
            </a:pPr>
            <a:r>
              <a:rPr lang="en-US" sz="1100" dirty="0">
                <a:solidFill>
                  <a:srgbClr val="1A2E1C"/>
                </a:solidFill>
                <a:latin typeface="Arial" pitchFamily="34" charset="0"/>
                <a:ea typeface="Arial" pitchFamily="34" charset="-122"/>
                <a:cs typeface="Arial" pitchFamily="34" charset="-120"/>
              </a:rPr>
              <a:t>Auth + Firestore</a:t>
            </a:r>
            <a:endParaRPr lang="en-US" sz="1100" dirty="0"/>
          </a:p>
          <a:p>
            <a:pPr algn="ctr" indent="0" marL="0">
              <a:buNone/>
            </a:pPr>
            <a:r>
              <a:rPr lang="en-US" sz="1100" dirty="0">
                <a:solidFill>
                  <a:srgbClr val="1A2E1C"/>
                </a:solidFill>
                <a:latin typeface="Arial" pitchFamily="34" charset="0"/>
                <a:ea typeface="Arial" pitchFamily="34" charset="-122"/>
                <a:cs typeface="Arial" pitchFamily="34" charset="-120"/>
              </a:rPr>
              <a:t>설정 간편</a:t>
            </a:r>
            <a:endParaRPr lang="en-US" sz="1100" dirty="0"/>
          </a:p>
        </p:txBody>
      </p:sp>
      <p:sp>
        <p:nvSpPr>
          <p:cNvPr id="41" name="Shape 39"/>
          <p:cNvSpPr/>
          <p:nvPr/>
        </p:nvSpPr>
        <p:spPr>
          <a:xfrm>
            <a:off x="6812280" y="2971800"/>
            <a:ext cx="2011680" cy="1691640"/>
          </a:xfrm>
          <a:prstGeom prst="roundRect">
            <a:avLst>
              <a:gd name="adj" fmla="val 5405"/>
            </a:avLst>
          </a:prstGeom>
          <a:solidFill>
            <a:srgbClr val="FFFFFF"/>
          </a:solidFill>
          <a:ln w="12700">
            <a:solidFill>
              <a:srgbClr val="C8E6C9"/>
            </a:solidFill>
            <a:prstDash val="solid"/>
          </a:ln>
          <a:effectLst>
            <a:outerShdw sx="100000" sy="100000" kx="0" ky="0" algn="bl" rotWithShape="0" blurRad="63500" dist="25400" dir="2700000">
              <a:srgbClr val="000000">
                <a:alpha val="12000"/>
              </a:srgbClr>
            </a:outerShdw>
          </a:effectLst>
        </p:spPr>
      </p:sp>
      <p:sp>
        <p:nvSpPr>
          <p:cNvPr id="42" name="Shape 40"/>
          <p:cNvSpPr/>
          <p:nvPr/>
        </p:nvSpPr>
        <p:spPr>
          <a:xfrm>
            <a:off x="6949440" y="3081528"/>
            <a:ext cx="1737360" cy="411480"/>
          </a:xfrm>
          <a:prstGeom prst="roundRect">
            <a:avLst>
              <a:gd name="adj" fmla="val 17778"/>
            </a:avLst>
          </a:prstGeom>
          <a:solidFill>
            <a:srgbClr val="8E44AD"/>
          </a:solidFill>
          <a:ln w="12700">
            <a:solidFill>
              <a:srgbClr val="8E44AD"/>
            </a:solidFill>
            <a:prstDash val="solid"/>
          </a:ln>
        </p:spPr>
      </p:sp>
      <p:sp>
        <p:nvSpPr>
          <p:cNvPr id="43" name="Text 41"/>
          <p:cNvSpPr/>
          <p:nvPr/>
        </p:nvSpPr>
        <p:spPr>
          <a:xfrm>
            <a:off x="6949440" y="3081528"/>
            <a:ext cx="1737360" cy="411480"/>
          </a:xfrm>
          <a:prstGeom prst="rect">
            <a:avLst/>
          </a:prstGeom>
          <a:noFill/>
          <a:ln/>
        </p:spPr>
        <p:txBody>
          <a:bodyPr wrap="square" lIns="0" tIns="0" rIns="0" bIns="0" rtlCol="0" anchor="ctr"/>
          <a:lstStyle/>
          <a:p>
            <a:pPr algn="ctr" indent="0" marL="0">
              <a:buNone/>
            </a:pPr>
            <a:r>
              <a:rPr lang="en-US" sz="1100" b="1" dirty="0">
                <a:solidFill>
                  <a:srgbClr val="FFFFFF"/>
                </a:solidFill>
              </a:rPr>
              <a:t>Claude API</a:t>
            </a:r>
            <a:endParaRPr lang="en-US" sz="1100" dirty="0"/>
          </a:p>
        </p:txBody>
      </p:sp>
      <p:sp>
        <p:nvSpPr>
          <p:cNvPr id="44" name="Text 42"/>
          <p:cNvSpPr/>
          <p:nvPr/>
        </p:nvSpPr>
        <p:spPr>
          <a:xfrm>
            <a:off x="6949440" y="3566160"/>
            <a:ext cx="1737360" cy="914400"/>
          </a:xfrm>
          <a:prstGeom prst="rect">
            <a:avLst/>
          </a:prstGeom>
          <a:noFill/>
          <a:ln/>
        </p:spPr>
        <p:txBody>
          <a:bodyPr wrap="square" rtlCol="0" anchor="ctr"/>
          <a:lstStyle/>
          <a:p>
            <a:pPr algn="ctr" indent="0" marL="0">
              <a:buNone/>
            </a:pPr>
            <a:r>
              <a:rPr lang="en-US" sz="1100" dirty="0">
                <a:solidFill>
                  <a:srgbClr val="1A2E1C"/>
                </a:solidFill>
                <a:latin typeface="Arial" pitchFamily="34" charset="0"/>
                <a:ea typeface="Arial" pitchFamily="34" charset="-122"/>
                <a:cs typeface="Arial" pitchFamily="34" charset="-120"/>
              </a:rPr>
              <a:t>한국어 감정분석</a:t>
            </a:r>
            <a:endParaRPr lang="en-US" sz="1100" dirty="0"/>
          </a:p>
          <a:p>
            <a:pPr algn="ctr" indent="0" marL="0">
              <a:buNone/>
            </a:pPr>
            <a:r>
              <a:rPr lang="en-US" sz="1100" dirty="0">
                <a:solidFill>
                  <a:srgbClr val="1A2E1C"/>
                </a:solidFill>
                <a:latin typeface="Arial" pitchFamily="34" charset="0"/>
                <a:ea typeface="Arial" pitchFamily="34" charset="-122"/>
                <a:cs typeface="Arial" pitchFamily="34" charset="-120"/>
              </a:rPr>
              <a:t>자연어 이해 최고품질</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8F1"/>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2E5233"/>
          </a:solidFill>
          <a:ln w="12700">
            <a:solidFill>
              <a:srgbClr val="2E5233"/>
            </a:solidFill>
            <a:prstDash val="solid"/>
          </a:ln>
        </p:spPr>
      </p:sp>
      <p:sp>
        <p:nvSpPr>
          <p:cNvPr id="3" name="Text 1"/>
          <p:cNvSpPr/>
          <p:nvPr/>
        </p:nvSpPr>
        <p:spPr>
          <a:xfrm>
            <a:off x="365760" y="45720"/>
            <a:ext cx="7772400" cy="50292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아키텍처 — 4레이어 클린 아키텍처</a:t>
            </a:r>
            <a:endParaRPr lang="en-US" sz="2400" dirty="0"/>
          </a:p>
        </p:txBody>
      </p:sp>
      <p:sp>
        <p:nvSpPr>
          <p:cNvPr id="4" name="Text 2"/>
          <p:cNvSpPr/>
          <p:nvPr/>
        </p:nvSpPr>
        <p:spPr>
          <a:xfrm>
            <a:off x="365760" y="548640"/>
            <a:ext cx="8229600" cy="320040"/>
          </a:xfrm>
          <a:prstGeom prst="rect">
            <a:avLst/>
          </a:prstGeom>
          <a:noFill/>
          <a:ln/>
        </p:spPr>
        <p:txBody>
          <a:bodyPr wrap="square" lIns="0" tIns="0" rIns="0" bIns="0" rtlCol="0" anchor="ctr"/>
          <a:lstStyle/>
          <a:p>
            <a:pPr indent="0" marL="0">
              <a:buNone/>
            </a:pPr>
            <a:r>
              <a:rPr lang="en-US" sz="1200" dirty="0">
                <a:solidFill>
                  <a:srgbClr val="DDF0E1"/>
                </a:solidFill>
                <a:latin typeface="Arial" pitchFamily="34" charset="0"/>
                <a:ea typeface="Arial" pitchFamily="34" charset="-122"/>
                <a:cs typeface="Arial" pitchFamily="34" charset="-120"/>
              </a:rPr>
              <a:t>단방향 의존성 · 관심사 분리</a:t>
            </a:r>
            <a:endParaRPr lang="en-US" sz="1200" dirty="0"/>
          </a:p>
        </p:txBody>
      </p:sp>
      <p:sp>
        <p:nvSpPr>
          <p:cNvPr id="5" name="Shape 3"/>
          <p:cNvSpPr/>
          <p:nvPr/>
        </p:nvSpPr>
        <p:spPr>
          <a:xfrm>
            <a:off x="457200" y="1024128"/>
            <a:ext cx="5486400" cy="777240"/>
          </a:xfrm>
          <a:prstGeom prst="roundRect">
            <a:avLst>
              <a:gd name="adj" fmla="val 9412"/>
            </a:avLst>
          </a:prstGeom>
          <a:solidFill>
            <a:srgbClr val="4A9055"/>
          </a:solidFill>
          <a:ln w="12700">
            <a:solidFill>
              <a:srgbClr val="4A9055"/>
            </a:solidFill>
            <a:prstDash val="solid"/>
          </a:ln>
          <a:effectLst>
            <a:outerShdw sx="100000" sy="100000" kx="0" ky="0" algn="bl" rotWithShape="0" blurRad="63500" dist="25400" dir="2700000">
              <a:srgbClr val="000000">
                <a:alpha val="12000"/>
              </a:srgbClr>
            </a:outerShdw>
          </a:effectLst>
        </p:spPr>
      </p:sp>
      <p:sp>
        <p:nvSpPr>
          <p:cNvPr id="6" name="Text 4"/>
          <p:cNvSpPr/>
          <p:nvPr/>
        </p:nvSpPr>
        <p:spPr>
          <a:xfrm>
            <a:off x="594360" y="1060704"/>
            <a:ext cx="4114800" cy="347472"/>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Presentation Layer</a:t>
            </a:r>
            <a:endParaRPr lang="en-US" sz="1400" dirty="0"/>
          </a:p>
        </p:txBody>
      </p:sp>
      <p:sp>
        <p:nvSpPr>
          <p:cNvPr id="7" name="Text 5"/>
          <p:cNvSpPr/>
          <p:nvPr/>
        </p:nvSpPr>
        <p:spPr>
          <a:xfrm>
            <a:off x="594360" y="1426464"/>
            <a:ext cx="5212080" cy="274320"/>
          </a:xfrm>
          <a:prstGeom prst="rect">
            <a:avLst/>
          </a:prstGeom>
          <a:noFill/>
          <a:ln/>
        </p:spPr>
        <p:txBody>
          <a:bodyPr wrap="square" lIns="0" tIns="0" rIns="0" bIns="0" rtlCol="0" anchor="ctr"/>
          <a:lstStyle/>
          <a:p>
            <a:pPr indent="0" marL="0">
              <a:buNone/>
            </a:pPr>
            <a:r>
              <a:rPr lang="en-US" sz="1100" dirty="0">
                <a:solidFill>
                  <a:srgbClr val="C8E6C9"/>
                </a:solidFill>
                <a:latin typeface="Arial" pitchFamily="34" charset="0"/>
                <a:ea typeface="Arial" pitchFamily="34" charset="-122"/>
                <a:cs typeface="Arial" pitchFamily="34" charset="-120"/>
              </a:rPr>
              <a:t>App.tsx · HomeScreen · HistoryScreen</a:t>
            </a:r>
            <a:endParaRPr lang="en-US" sz="1100" dirty="0"/>
          </a:p>
        </p:txBody>
      </p:sp>
      <p:sp>
        <p:nvSpPr>
          <p:cNvPr id="8" name="Shape 6"/>
          <p:cNvSpPr/>
          <p:nvPr/>
        </p:nvSpPr>
        <p:spPr>
          <a:xfrm>
            <a:off x="3017520" y="1801368"/>
            <a:ext cx="0" cy="182880"/>
          </a:xfrm>
          <a:prstGeom prst="line">
            <a:avLst/>
          </a:prstGeom>
          <a:noFill/>
          <a:ln w="25400">
            <a:solidFill>
              <a:srgbClr val="6BAE72"/>
            </a:solidFill>
            <a:prstDash val="solid"/>
          </a:ln>
        </p:spPr>
      </p:sp>
      <p:sp>
        <p:nvSpPr>
          <p:cNvPr id="9" name="Shape 7"/>
          <p:cNvSpPr/>
          <p:nvPr/>
        </p:nvSpPr>
        <p:spPr>
          <a:xfrm>
            <a:off x="6217920" y="1024128"/>
            <a:ext cx="2651760" cy="777240"/>
          </a:xfrm>
          <a:prstGeom prst="roundRect">
            <a:avLst>
              <a:gd name="adj" fmla="val 11765"/>
            </a:avLst>
          </a:prstGeom>
          <a:solidFill>
            <a:srgbClr val="FFFFFF"/>
          </a:solidFill>
          <a:ln w="12700">
            <a:solidFill>
              <a:srgbClr val="C8E6C9"/>
            </a:solidFill>
            <a:prstDash val="solid"/>
          </a:ln>
          <a:effectLst>
            <a:outerShdw sx="100000" sy="100000" kx="0" ky="0" algn="bl" rotWithShape="0" blurRad="63500" dist="25400" dir="2700000">
              <a:srgbClr val="000000">
                <a:alpha val="12000"/>
              </a:srgbClr>
            </a:outerShdw>
          </a:effectLst>
        </p:spPr>
      </p:sp>
      <p:sp>
        <p:nvSpPr>
          <p:cNvPr id="10" name="Text 8"/>
          <p:cNvSpPr/>
          <p:nvPr/>
        </p:nvSpPr>
        <p:spPr>
          <a:xfrm>
            <a:off x="6355080" y="1188720"/>
            <a:ext cx="2377440" cy="457200"/>
          </a:xfrm>
          <a:prstGeom prst="rect">
            <a:avLst/>
          </a:prstGeom>
          <a:noFill/>
          <a:ln/>
        </p:spPr>
        <p:txBody>
          <a:bodyPr wrap="square" lIns="0" tIns="0" rIns="0" bIns="0" rtlCol="0" anchor="ctr"/>
          <a:lstStyle/>
          <a:p>
            <a:pPr indent="0" marL="0">
              <a:buNone/>
            </a:pPr>
            <a:r>
              <a:rPr lang="en-US" sz="1100" dirty="0">
                <a:solidFill>
                  <a:srgbClr val="1A2E1C"/>
                </a:solidFill>
                <a:latin typeface="Arial" pitchFamily="34" charset="0"/>
                <a:ea typeface="Arial" pitchFamily="34" charset="-122"/>
                <a:cs typeface="Arial" pitchFamily="34" charset="-120"/>
              </a:rPr>
              <a:t>React 컴포넌트 / UI 렌더링만 담당</a:t>
            </a:r>
            <a:endParaRPr lang="en-US" sz="1100" dirty="0"/>
          </a:p>
        </p:txBody>
      </p:sp>
      <p:sp>
        <p:nvSpPr>
          <p:cNvPr id="11" name="Shape 9"/>
          <p:cNvSpPr/>
          <p:nvPr/>
        </p:nvSpPr>
        <p:spPr>
          <a:xfrm>
            <a:off x="457200" y="1984248"/>
            <a:ext cx="5486400" cy="777240"/>
          </a:xfrm>
          <a:prstGeom prst="roundRect">
            <a:avLst>
              <a:gd name="adj" fmla="val 9412"/>
            </a:avLst>
          </a:prstGeom>
          <a:solidFill>
            <a:srgbClr val="2E7D32"/>
          </a:solidFill>
          <a:ln w="12700">
            <a:solidFill>
              <a:srgbClr val="2E7D32"/>
            </a:solidFill>
            <a:prstDash val="solid"/>
          </a:ln>
          <a:effectLst>
            <a:outerShdw sx="100000" sy="100000" kx="0" ky="0" algn="bl" rotWithShape="0" blurRad="63500" dist="25400" dir="2700000">
              <a:srgbClr val="000000">
                <a:alpha val="12000"/>
              </a:srgbClr>
            </a:outerShdw>
          </a:effectLst>
        </p:spPr>
      </p:sp>
      <p:sp>
        <p:nvSpPr>
          <p:cNvPr id="12" name="Text 10"/>
          <p:cNvSpPr/>
          <p:nvPr/>
        </p:nvSpPr>
        <p:spPr>
          <a:xfrm>
            <a:off x="594360" y="2020824"/>
            <a:ext cx="4114800" cy="347472"/>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Application Layer</a:t>
            </a:r>
            <a:endParaRPr lang="en-US" sz="1400" dirty="0"/>
          </a:p>
        </p:txBody>
      </p:sp>
      <p:sp>
        <p:nvSpPr>
          <p:cNvPr id="13" name="Text 11"/>
          <p:cNvSpPr/>
          <p:nvPr/>
        </p:nvSpPr>
        <p:spPr>
          <a:xfrm>
            <a:off x="594360" y="2386584"/>
            <a:ext cx="5212080" cy="274320"/>
          </a:xfrm>
          <a:prstGeom prst="rect">
            <a:avLst/>
          </a:prstGeom>
          <a:noFill/>
          <a:ln/>
        </p:spPr>
        <p:txBody>
          <a:bodyPr wrap="square" lIns="0" tIns="0" rIns="0" bIns="0" rtlCol="0" anchor="ctr"/>
          <a:lstStyle/>
          <a:p>
            <a:pPr indent="0" marL="0">
              <a:buNone/>
            </a:pPr>
            <a:r>
              <a:rPr lang="en-US" sz="1100" dirty="0">
                <a:solidFill>
                  <a:srgbClr val="C8E6C9"/>
                </a:solidFill>
                <a:latin typeface="Arial" pitchFamily="34" charset="0"/>
                <a:ea typeface="Arial" pitchFamily="34" charset="-122"/>
                <a:cs typeface="Arial" pitchFamily="34" charset="-120"/>
              </a:rPr>
              <a:t>Zustand Store (diaryStore.ts)</a:t>
            </a:r>
            <a:endParaRPr lang="en-US" sz="1100" dirty="0"/>
          </a:p>
        </p:txBody>
      </p:sp>
      <p:sp>
        <p:nvSpPr>
          <p:cNvPr id="14" name="Shape 12"/>
          <p:cNvSpPr/>
          <p:nvPr/>
        </p:nvSpPr>
        <p:spPr>
          <a:xfrm>
            <a:off x="3017520" y="2761488"/>
            <a:ext cx="0" cy="182880"/>
          </a:xfrm>
          <a:prstGeom prst="line">
            <a:avLst/>
          </a:prstGeom>
          <a:noFill/>
          <a:ln w="25400">
            <a:solidFill>
              <a:srgbClr val="6BAE72"/>
            </a:solidFill>
            <a:prstDash val="solid"/>
          </a:ln>
        </p:spPr>
      </p:sp>
      <p:sp>
        <p:nvSpPr>
          <p:cNvPr id="15" name="Shape 13"/>
          <p:cNvSpPr/>
          <p:nvPr/>
        </p:nvSpPr>
        <p:spPr>
          <a:xfrm>
            <a:off x="6217920" y="1984248"/>
            <a:ext cx="2651760" cy="777240"/>
          </a:xfrm>
          <a:prstGeom prst="roundRect">
            <a:avLst>
              <a:gd name="adj" fmla="val 11765"/>
            </a:avLst>
          </a:prstGeom>
          <a:solidFill>
            <a:srgbClr val="FFFFFF"/>
          </a:solidFill>
          <a:ln w="12700">
            <a:solidFill>
              <a:srgbClr val="C8E6C9"/>
            </a:solidFill>
            <a:prstDash val="solid"/>
          </a:ln>
          <a:effectLst>
            <a:outerShdw sx="100000" sy="100000" kx="0" ky="0" algn="bl" rotWithShape="0" blurRad="63500" dist="25400" dir="2700000">
              <a:srgbClr val="000000">
                <a:alpha val="12000"/>
              </a:srgbClr>
            </a:outerShdw>
          </a:effectLst>
        </p:spPr>
      </p:sp>
      <p:sp>
        <p:nvSpPr>
          <p:cNvPr id="16" name="Text 14"/>
          <p:cNvSpPr/>
          <p:nvPr/>
        </p:nvSpPr>
        <p:spPr>
          <a:xfrm>
            <a:off x="6355080" y="2148840"/>
            <a:ext cx="2377440" cy="457200"/>
          </a:xfrm>
          <a:prstGeom prst="rect">
            <a:avLst/>
          </a:prstGeom>
          <a:noFill/>
          <a:ln/>
        </p:spPr>
        <p:txBody>
          <a:bodyPr wrap="square" lIns="0" tIns="0" rIns="0" bIns="0" rtlCol="0" anchor="ctr"/>
          <a:lstStyle/>
          <a:p>
            <a:pPr indent="0" marL="0">
              <a:buNone/>
            </a:pPr>
            <a:r>
              <a:rPr lang="en-US" sz="1100" dirty="0">
                <a:solidFill>
                  <a:srgbClr val="1A2E1C"/>
                </a:solidFill>
                <a:latin typeface="Arial" pitchFamily="34" charset="0"/>
                <a:ea typeface="Arial" pitchFamily="34" charset="-122"/>
                <a:cs typeface="Arial" pitchFamily="34" charset="-120"/>
              </a:rPr>
              <a:t>전역 상태 관리 · 서비스 조율</a:t>
            </a:r>
            <a:endParaRPr lang="en-US" sz="1100" dirty="0"/>
          </a:p>
        </p:txBody>
      </p:sp>
      <p:sp>
        <p:nvSpPr>
          <p:cNvPr id="17" name="Shape 15"/>
          <p:cNvSpPr/>
          <p:nvPr/>
        </p:nvSpPr>
        <p:spPr>
          <a:xfrm>
            <a:off x="457200" y="2944368"/>
            <a:ext cx="5486400" cy="777240"/>
          </a:xfrm>
          <a:prstGeom prst="roundRect">
            <a:avLst>
              <a:gd name="adj" fmla="val 9412"/>
            </a:avLst>
          </a:prstGeom>
          <a:solidFill>
            <a:srgbClr val="1B5E20"/>
          </a:solidFill>
          <a:ln w="12700">
            <a:solidFill>
              <a:srgbClr val="1B5E20"/>
            </a:solidFill>
            <a:prstDash val="solid"/>
          </a:ln>
          <a:effectLst>
            <a:outerShdw sx="100000" sy="100000" kx="0" ky="0" algn="bl" rotWithShape="0" blurRad="63500" dist="25400" dir="2700000">
              <a:srgbClr val="000000">
                <a:alpha val="12000"/>
              </a:srgbClr>
            </a:outerShdw>
          </a:effectLst>
        </p:spPr>
      </p:sp>
      <p:sp>
        <p:nvSpPr>
          <p:cNvPr id="18" name="Text 16"/>
          <p:cNvSpPr/>
          <p:nvPr/>
        </p:nvSpPr>
        <p:spPr>
          <a:xfrm>
            <a:off x="594360" y="2980944"/>
            <a:ext cx="4114800" cy="347472"/>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Domain Layer</a:t>
            </a:r>
            <a:endParaRPr lang="en-US" sz="1400" dirty="0"/>
          </a:p>
        </p:txBody>
      </p:sp>
      <p:sp>
        <p:nvSpPr>
          <p:cNvPr id="19" name="Text 17"/>
          <p:cNvSpPr/>
          <p:nvPr/>
        </p:nvSpPr>
        <p:spPr>
          <a:xfrm>
            <a:off x="594360" y="3346704"/>
            <a:ext cx="5212080" cy="274320"/>
          </a:xfrm>
          <a:prstGeom prst="rect">
            <a:avLst/>
          </a:prstGeom>
          <a:noFill/>
          <a:ln/>
        </p:spPr>
        <p:txBody>
          <a:bodyPr wrap="square" lIns="0" tIns="0" rIns="0" bIns="0" rtlCol="0" anchor="ctr"/>
          <a:lstStyle/>
          <a:p>
            <a:pPr indent="0" marL="0">
              <a:buNone/>
            </a:pPr>
            <a:r>
              <a:rPr lang="en-US" sz="1100" dirty="0">
                <a:solidFill>
                  <a:srgbClr val="C8E6C9"/>
                </a:solidFill>
                <a:latin typeface="Arial" pitchFamily="34" charset="0"/>
                <a:ea typeface="Arial" pitchFamily="34" charset="-122"/>
                <a:cs typeface="Arial" pitchFamily="34" charset="-120"/>
              </a:rPr>
              <a:t>DiaryEntry · EmotionResult 타입</a:t>
            </a:r>
            <a:endParaRPr lang="en-US" sz="1100" dirty="0"/>
          </a:p>
        </p:txBody>
      </p:sp>
      <p:sp>
        <p:nvSpPr>
          <p:cNvPr id="20" name="Shape 18"/>
          <p:cNvSpPr/>
          <p:nvPr/>
        </p:nvSpPr>
        <p:spPr>
          <a:xfrm>
            <a:off x="3017520" y="3721608"/>
            <a:ext cx="0" cy="182880"/>
          </a:xfrm>
          <a:prstGeom prst="line">
            <a:avLst/>
          </a:prstGeom>
          <a:noFill/>
          <a:ln w="25400">
            <a:solidFill>
              <a:srgbClr val="6BAE72"/>
            </a:solidFill>
            <a:prstDash val="solid"/>
          </a:ln>
        </p:spPr>
      </p:sp>
      <p:sp>
        <p:nvSpPr>
          <p:cNvPr id="21" name="Shape 19"/>
          <p:cNvSpPr/>
          <p:nvPr/>
        </p:nvSpPr>
        <p:spPr>
          <a:xfrm>
            <a:off x="6217920" y="2944368"/>
            <a:ext cx="2651760" cy="777240"/>
          </a:xfrm>
          <a:prstGeom prst="roundRect">
            <a:avLst>
              <a:gd name="adj" fmla="val 11765"/>
            </a:avLst>
          </a:prstGeom>
          <a:solidFill>
            <a:srgbClr val="FFFFFF"/>
          </a:solidFill>
          <a:ln w="12700">
            <a:solidFill>
              <a:srgbClr val="C8E6C9"/>
            </a:solidFill>
            <a:prstDash val="solid"/>
          </a:ln>
          <a:effectLst>
            <a:outerShdw sx="100000" sy="100000" kx="0" ky="0" algn="bl" rotWithShape="0" blurRad="63500" dist="25400" dir="2700000">
              <a:srgbClr val="000000">
                <a:alpha val="12000"/>
              </a:srgbClr>
            </a:outerShdw>
          </a:effectLst>
        </p:spPr>
      </p:sp>
      <p:sp>
        <p:nvSpPr>
          <p:cNvPr id="22" name="Text 20"/>
          <p:cNvSpPr/>
          <p:nvPr/>
        </p:nvSpPr>
        <p:spPr>
          <a:xfrm>
            <a:off x="6355080" y="3108960"/>
            <a:ext cx="2377440" cy="457200"/>
          </a:xfrm>
          <a:prstGeom prst="rect">
            <a:avLst/>
          </a:prstGeom>
          <a:noFill/>
          <a:ln/>
        </p:spPr>
        <p:txBody>
          <a:bodyPr wrap="square" lIns="0" tIns="0" rIns="0" bIns="0" rtlCol="0" anchor="ctr"/>
          <a:lstStyle/>
          <a:p>
            <a:pPr indent="0" marL="0">
              <a:buNone/>
            </a:pPr>
            <a:r>
              <a:rPr lang="en-US" sz="1100" dirty="0">
                <a:solidFill>
                  <a:srgbClr val="1A2E1C"/>
                </a:solidFill>
                <a:latin typeface="Arial" pitchFamily="34" charset="0"/>
                <a:ea typeface="Arial" pitchFamily="34" charset="-122"/>
                <a:cs typeface="Arial" pitchFamily="34" charset="-120"/>
              </a:rPr>
              <a:t>핵심 비즈니스 모델 정의</a:t>
            </a:r>
            <a:endParaRPr lang="en-US" sz="1100" dirty="0"/>
          </a:p>
        </p:txBody>
      </p:sp>
      <p:sp>
        <p:nvSpPr>
          <p:cNvPr id="23" name="Shape 21"/>
          <p:cNvSpPr/>
          <p:nvPr/>
        </p:nvSpPr>
        <p:spPr>
          <a:xfrm>
            <a:off x="457200" y="3904488"/>
            <a:ext cx="5486400" cy="777240"/>
          </a:xfrm>
          <a:prstGeom prst="roundRect">
            <a:avLst>
              <a:gd name="adj" fmla="val 9412"/>
            </a:avLst>
          </a:prstGeom>
          <a:solidFill>
            <a:srgbClr val="2E5233"/>
          </a:solidFill>
          <a:ln w="12700">
            <a:solidFill>
              <a:srgbClr val="2E5233"/>
            </a:solidFill>
            <a:prstDash val="solid"/>
          </a:ln>
          <a:effectLst>
            <a:outerShdw sx="100000" sy="100000" kx="0" ky="0" algn="bl" rotWithShape="0" blurRad="63500" dist="25400" dir="2700000">
              <a:srgbClr val="000000">
                <a:alpha val="12000"/>
              </a:srgbClr>
            </a:outerShdw>
          </a:effectLst>
        </p:spPr>
      </p:sp>
      <p:sp>
        <p:nvSpPr>
          <p:cNvPr id="24" name="Text 22"/>
          <p:cNvSpPr/>
          <p:nvPr/>
        </p:nvSpPr>
        <p:spPr>
          <a:xfrm>
            <a:off x="594360" y="3941064"/>
            <a:ext cx="4114800" cy="347472"/>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Data Layer</a:t>
            </a:r>
            <a:endParaRPr lang="en-US" sz="1400" dirty="0"/>
          </a:p>
        </p:txBody>
      </p:sp>
      <p:sp>
        <p:nvSpPr>
          <p:cNvPr id="25" name="Text 23"/>
          <p:cNvSpPr/>
          <p:nvPr/>
        </p:nvSpPr>
        <p:spPr>
          <a:xfrm>
            <a:off x="594360" y="4306824"/>
            <a:ext cx="5212080" cy="274320"/>
          </a:xfrm>
          <a:prstGeom prst="rect">
            <a:avLst/>
          </a:prstGeom>
          <a:noFill/>
          <a:ln/>
        </p:spPr>
        <p:txBody>
          <a:bodyPr wrap="square" lIns="0" tIns="0" rIns="0" bIns="0" rtlCol="0" anchor="ctr"/>
          <a:lstStyle/>
          <a:p>
            <a:pPr indent="0" marL="0">
              <a:buNone/>
            </a:pPr>
            <a:r>
              <a:rPr lang="en-US" sz="1100" dirty="0">
                <a:solidFill>
                  <a:srgbClr val="C8E6C9"/>
                </a:solidFill>
                <a:latin typeface="Arial" pitchFamily="34" charset="0"/>
                <a:ea typeface="Arial" pitchFamily="34" charset="-122"/>
                <a:cs typeface="Arial" pitchFamily="34" charset="-120"/>
              </a:rPr>
              <a:t>claudeService.ts · firebaseService.ts</a:t>
            </a:r>
            <a:endParaRPr lang="en-US" sz="1100" dirty="0"/>
          </a:p>
        </p:txBody>
      </p:sp>
      <p:sp>
        <p:nvSpPr>
          <p:cNvPr id="26" name="Shape 24"/>
          <p:cNvSpPr/>
          <p:nvPr/>
        </p:nvSpPr>
        <p:spPr>
          <a:xfrm>
            <a:off x="6217920" y="3904488"/>
            <a:ext cx="2651760" cy="777240"/>
          </a:xfrm>
          <a:prstGeom prst="roundRect">
            <a:avLst>
              <a:gd name="adj" fmla="val 11765"/>
            </a:avLst>
          </a:prstGeom>
          <a:solidFill>
            <a:srgbClr val="FFFFFF"/>
          </a:solidFill>
          <a:ln w="12700">
            <a:solidFill>
              <a:srgbClr val="C8E6C9"/>
            </a:solidFill>
            <a:prstDash val="solid"/>
          </a:ln>
          <a:effectLst>
            <a:outerShdw sx="100000" sy="100000" kx="0" ky="0" algn="bl" rotWithShape="0" blurRad="63500" dist="25400" dir="2700000">
              <a:srgbClr val="000000">
                <a:alpha val="12000"/>
              </a:srgbClr>
            </a:outerShdw>
          </a:effectLst>
        </p:spPr>
      </p:sp>
      <p:sp>
        <p:nvSpPr>
          <p:cNvPr id="27" name="Text 25"/>
          <p:cNvSpPr/>
          <p:nvPr/>
        </p:nvSpPr>
        <p:spPr>
          <a:xfrm>
            <a:off x="6355080" y="4069080"/>
            <a:ext cx="2377440" cy="457200"/>
          </a:xfrm>
          <a:prstGeom prst="rect">
            <a:avLst/>
          </a:prstGeom>
          <a:noFill/>
          <a:ln/>
        </p:spPr>
        <p:txBody>
          <a:bodyPr wrap="square" lIns="0" tIns="0" rIns="0" bIns="0" rtlCol="0" anchor="ctr"/>
          <a:lstStyle/>
          <a:p>
            <a:pPr indent="0" marL="0">
              <a:buNone/>
            </a:pPr>
            <a:r>
              <a:rPr lang="en-US" sz="1100" dirty="0">
                <a:solidFill>
                  <a:srgbClr val="1A2E1C"/>
                </a:solidFill>
                <a:latin typeface="Arial" pitchFamily="34" charset="0"/>
                <a:ea typeface="Arial" pitchFamily="34" charset="-122"/>
                <a:cs typeface="Arial" pitchFamily="34" charset="-120"/>
              </a:rPr>
              <a:t>Claude API + Firebase 외부 통신</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8F1"/>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2E5233"/>
          </a:solidFill>
          <a:ln w="12700">
            <a:solidFill>
              <a:srgbClr val="2E5233"/>
            </a:solidFill>
            <a:prstDash val="solid"/>
          </a:ln>
        </p:spPr>
      </p:sp>
      <p:sp>
        <p:nvSpPr>
          <p:cNvPr id="3" name="Text 1"/>
          <p:cNvSpPr/>
          <p:nvPr/>
        </p:nvSpPr>
        <p:spPr>
          <a:xfrm>
            <a:off x="365760" y="45720"/>
            <a:ext cx="7772400" cy="50292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구현 과정 &amp; 시행착오</a:t>
            </a:r>
            <a:endParaRPr lang="en-US" sz="2400" dirty="0"/>
          </a:p>
        </p:txBody>
      </p:sp>
      <p:sp>
        <p:nvSpPr>
          <p:cNvPr id="4" name="Text 2"/>
          <p:cNvSpPr/>
          <p:nvPr/>
        </p:nvSpPr>
        <p:spPr>
          <a:xfrm>
            <a:off x="365760" y="548640"/>
            <a:ext cx="8229600" cy="320040"/>
          </a:xfrm>
          <a:prstGeom prst="rect">
            <a:avLst/>
          </a:prstGeom>
          <a:noFill/>
          <a:ln/>
        </p:spPr>
        <p:txBody>
          <a:bodyPr wrap="square" lIns="0" tIns="0" rIns="0" bIns="0" rtlCol="0" anchor="ctr"/>
          <a:lstStyle/>
          <a:p>
            <a:pPr indent="0" marL="0">
              <a:buNone/>
            </a:pPr>
            <a:r>
              <a:rPr lang="en-US" sz="1200" dirty="0">
                <a:solidFill>
                  <a:srgbClr val="DDF0E1"/>
                </a:solidFill>
                <a:latin typeface="Arial" pitchFamily="34" charset="0"/>
                <a:ea typeface="Arial" pitchFamily="34" charset="-122"/>
                <a:cs typeface="Arial" pitchFamily="34" charset="-120"/>
              </a:rPr>
              <a:t>개발자 관점의 문제 해결 기록</a:t>
            </a:r>
            <a:endParaRPr lang="en-US" sz="1200" dirty="0"/>
          </a:p>
        </p:txBody>
      </p:sp>
      <p:sp>
        <p:nvSpPr>
          <p:cNvPr id="5" name="Shape 3"/>
          <p:cNvSpPr/>
          <p:nvPr/>
        </p:nvSpPr>
        <p:spPr>
          <a:xfrm>
            <a:off x="320040" y="1051560"/>
            <a:ext cx="8503920" cy="1188720"/>
          </a:xfrm>
          <a:prstGeom prst="roundRect">
            <a:avLst>
              <a:gd name="adj" fmla="val 7692"/>
            </a:avLst>
          </a:prstGeom>
          <a:solidFill>
            <a:srgbClr val="FFFFFF"/>
          </a:solidFill>
          <a:ln w="12700">
            <a:solidFill>
              <a:srgbClr val="C8E6C9"/>
            </a:solidFill>
            <a:prstDash val="solid"/>
          </a:ln>
          <a:effectLst>
            <a:outerShdw sx="100000" sy="100000" kx="0" ky="0" algn="bl" rotWithShape="0" blurRad="63500" dist="25400" dir="2700000">
              <a:srgbClr val="000000">
                <a:alpha val="12000"/>
              </a:srgbClr>
            </a:outerShdw>
          </a:effectLst>
        </p:spPr>
      </p:sp>
      <p:sp>
        <p:nvSpPr>
          <p:cNvPr id="6" name="Text 4"/>
          <p:cNvSpPr/>
          <p:nvPr/>
        </p:nvSpPr>
        <p:spPr>
          <a:xfrm>
            <a:off x="457200" y="1097280"/>
            <a:ext cx="4114800" cy="347472"/>
          </a:xfrm>
          <a:prstGeom prst="rect">
            <a:avLst/>
          </a:prstGeom>
          <a:noFill/>
          <a:ln/>
        </p:spPr>
        <p:txBody>
          <a:bodyPr wrap="square" lIns="0" tIns="0" rIns="0" bIns="0" rtlCol="0" anchor="ctr"/>
          <a:lstStyle/>
          <a:p>
            <a:pPr indent="0" marL="0">
              <a:buNone/>
            </a:pPr>
            <a:r>
              <a:rPr lang="en-US" sz="1400" b="1" dirty="0">
                <a:solidFill>
                  <a:srgbClr val="2E5233"/>
                </a:solidFill>
                <a:latin typeface="Arial" pitchFamily="34" charset="0"/>
                <a:ea typeface="Arial" pitchFamily="34" charset="-122"/>
                <a:cs typeface="Arial" pitchFamily="34" charset="-120"/>
              </a:rPr>
              <a:t>🔧 Expo SDK 버전 충돌</a:t>
            </a:r>
            <a:endParaRPr lang="en-US" sz="1400" dirty="0"/>
          </a:p>
        </p:txBody>
      </p:sp>
      <p:sp>
        <p:nvSpPr>
          <p:cNvPr id="7" name="Text 5"/>
          <p:cNvSpPr/>
          <p:nvPr/>
        </p:nvSpPr>
        <p:spPr>
          <a:xfrm>
            <a:off x="457200" y="1444752"/>
            <a:ext cx="8229600" cy="246888"/>
          </a:xfrm>
          <a:prstGeom prst="rect">
            <a:avLst/>
          </a:prstGeom>
          <a:noFill/>
          <a:ln/>
        </p:spPr>
        <p:txBody>
          <a:bodyPr wrap="square" lIns="0" tIns="0" rIns="0" bIns="0" rtlCol="0" anchor="ctr"/>
          <a:lstStyle/>
          <a:p>
            <a:pPr indent="0" marL="0">
              <a:buNone/>
            </a:pPr>
            <a:r>
              <a:rPr lang="en-US" sz="1100" dirty="0">
                <a:solidFill>
                  <a:srgbClr val="C0392B"/>
                </a:solidFill>
                <a:latin typeface="Arial" pitchFamily="34" charset="0"/>
                <a:ea typeface="Arial" pitchFamily="34" charset="-122"/>
                <a:cs typeface="Arial" pitchFamily="34" charset="-120"/>
              </a:rPr>
              <a:t>문제: SDK 56 설치 시 react-native-reanimated peer dependency 에러</a:t>
            </a:r>
            <a:endParaRPr lang="en-US" sz="1100" dirty="0"/>
          </a:p>
        </p:txBody>
      </p:sp>
      <p:sp>
        <p:nvSpPr>
          <p:cNvPr id="8" name="Text 6"/>
          <p:cNvSpPr/>
          <p:nvPr/>
        </p:nvSpPr>
        <p:spPr>
          <a:xfrm>
            <a:off x="457200" y="1691640"/>
            <a:ext cx="8229600" cy="246888"/>
          </a:xfrm>
          <a:prstGeom prst="rect">
            <a:avLst/>
          </a:prstGeom>
          <a:noFill/>
          <a:ln/>
        </p:spPr>
        <p:txBody>
          <a:bodyPr wrap="square" lIns="0" tIns="0" rIns="0" bIns="0" rtlCol="0" anchor="ctr"/>
          <a:lstStyle/>
          <a:p>
            <a:pPr indent="0" marL="0">
              <a:buNone/>
            </a:pPr>
            <a:r>
              <a:rPr lang="en-US" sz="1100" dirty="0">
                <a:solidFill>
                  <a:srgbClr val="4A9055"/>
                </a:solidFill>
                <a:latin typeface="Arial" pitchFamily="34" charset="0"/>
                <a:ea typeface="Arial" pitchFamily="34" charset="-122"/>
                <a:cs typeface="Arial" pitchFamily="34" charset="-120"/>
              </a:rPr>
              <a:t>해결: SDK 54로 다운그레이드 + npm install --legacy-peer-deps</a:t>
            </a:r>
            <a:endParaRPr lang="en-US" sz="1100" dirty="0"/>
          </a:p>
        </p:txBody>
      </p:sp>
      <p:sp>
        <p:nvSpPr>
          <p:cNvPr id="9" name="Text 7"/>
          <p:cNvSpPr/>
          <p:nvPr/>
        </p:nvSpPr>
        <p:spPr>
          <a:xfrm>
            <a:off x="457200" y="1938528"/>
            <a:ext cx="8229600" cy="228600"/>
          </a:xfrm>
          <a:prstGeom prst="rect">
            <a:avLst/>
          </a:prstGeom>
          <a:noFill/>
          <a:ln/>
        </p:spPr>
        <p:txBody>
          <a:bodyPr wrap="square" lIns="0" tIns="0" rIns="0" bIns="0" rtlCol="0" anchor="ctr"/>
          <a:lstStyle/>
          <a:p>
            <a:pPr indent="0" marL="0">
              <a:buNone/>
            </a:pPr>
            <a:r>
              <a:rPr lang="en-US" sz="1000" i="1" dirty="0">
                <a:solidFill>
                  <a:srgbClr val="5A7A5E"/>
                </a:solidFill>
                <a:latin typeface="Arial" pitchFamily="34" charset="0"/>
                <a:ea typeface="Arial" pitchFamily="34" charset="-122"/>
                <a:cs typeface="Arial" pitchFamily="34" charset="-120"/>
              </a:rPr>
              <a:t>교훈: SDK 버전 호환성을 먼저 확인 후 의존성 설치</a:t>
            </a:r>
            <a:endParaRPr lang="en-US" sz="1000" dirty="0"/>
          </a:p>
        </p:txBody>
      </p:sp>
      <p:sp>
        <p:nvSpPr>
          <p:cNvPr id="10" name="Shape 8"/>
          <p:cNvSpPr/>
          <p:nvPr/>
        </p:nvSpPr>
        <p:spPr>
          <a:xfrm>
            <a:off x="320040" y="2377440"/>
            <a:ext cx="8503920" cy="1188720"/>
          </a:xfrm>
          <a:prstGeom prst="roundRect">
            <a:avLst>
              <a:gd name="adj" fmla="val 7692"/>
            </a:avLst>
          </a:prstGeom>
          <a:solidFill>
            <a:srgbClr val="FFFFFF"/>
          </a:solidFill>
          <a:ln w="12700">
            <a:solidFill>
              <a:srgbClr val="C8E6C9"/>
            </a:solidFill>
            <a:prstDash val="solid"/>
          </a:ln>
          <a:effectLst>
            <a:outerShdw sx="100000" sy="100000" kx="0" ky="0" algn="bl" rotWithShape="0" blurRad="63500" dist="25400" dir="2700000">
              <a:srgbClr val="000000">
                <a:alpha val="12000"/>
              </a:srgbClr>
            </a:outerShdw>
          </a:effectLst>
        </p:spPr>
      </p:sp>
      <p:sp>
        <p:nvSpPr>
          <p:cNvPr id="11" name="Text 9"/>
          <p:cNvSpPr/>
          <p:nvPr/>
        </p:nvSpPr>
        <p:spPr>
          <a:xfrm>
            <a:off x="457200" y="2423160"/>
            <a:ext cx="4114800" cy="347472"/>
          </a:xfrm>
          <a:prstGeom prst="rect">
            <a:avLst/>
          </a:prstGeom>
          <a:noFill/>
          <a:ln/>
        </p:spPr>
        <p:txBody>
          <a:bodyPr wrap="square" lIns="0" tIns="0" rIns="0" bIns="0" rtlCol="0" anchor="ctr"/>
          <a:lstStyle/>
          <a:p>
            <a:pPr indent="0" marL="0">
              <a:buNone/>
            </a:pPr>
            <a:r>
              <a:rPr lang="en-US" sz="1400" b="1" dirty="0">
                <a:solidFill>
                  <a:srgbClr val="2E5233"/>
                </a:solidFill>
                <a:latin typeface="Arial" pitchFamily="34" charset="0"/>
                <a:ea typeface="Arial" pitchFamily="34" charset="-122"/>
                <a:cs typeface="Arial" pitchFamily="34" charset="-120"/>
              </a:rPr>
              <a:t>🧭 expo-router → useState 전환</a:t>
            </a:r>
            <a:endParaRPr lang="en-US" sz="1400" dirty="0"/>
          </a:p>
        </p:txBody>
      </p:sp>
      <p:sp>
        <p:nvSpPr>
          <p:cNvPr id="12" name="Text 10"/>
          <p:cNvSpPr/>
          <p:nvPr/>
        </p:nvSpPr>
        <p:spPr>
          <a:xfrm>
            <a:off x="457200" y="2770632"/>
            <a:ext cx="8229600" cy="246888"/>
          </a:xfrm>
          <a:prstGeom prst="rect">
            <a:avLst/>
          </a:prstGeom>
          <a:noFill/>
          <a:ln/>
        </p:spPr>
        <p:txBody>
          <a:bodyPr wrap="square" lIns="0" tIns="0" rIns="0" bIns="0" rtlCol="0" anchor="ctr"/>
          <a:lstStyle/>
          <a:p>
            <a:pPr indent="0" marL="0">
              <a:buNone/>
            </a:pPr>
            <a:r>
              <a:rPr lang="en-US" sz="1100" dirty="0">
                <a:solidFill>
                  <a:srgbClr val="C0392B"/>
                </a:solidFill>
                <a:latin typeface="Arial" pitchFamily="34" charset="0"/>
                <a:ea typeface="Arial" pitchFamily="34" charset="-122"/>
                <a:cs typeface="Arial" pitchFamily="34" charset="-120"/>
              </a:rPr>
              <a:t>문제: expo-router가 SDK 54에서 navigation 충돌 발생</a:t>
            </a:r>
            <a:endParaRPr lang="en-US" sz="1100" dirty="0"/>
          </a:p>
        </p:txBody>
      </p:sp>
      <p:sp>
        <p:nvSpPr>
          <p:cNvPr id="13" name="Text 11"/>
          <p:cNvSpPr/>
          <p:nvPr/>
        </p:nvSpPr>
        <p:spPr>
          <a:xfrm>
            <a:off x="457200" y="3017520"/>
            <a:ext cx="8229600" cy="246888"/>
          </a:xfrm>
          <a:prstGeom prst="rect">
            <a:avLst/>
          </a:prstGeom>
          <a:noFill/>
          <a:ln/>
        </p:spPr>
        <p:txBody>
          <a:bodyPr wrap="square" lIns="0" tIns="0" rIns="0" bIns="0" rtlCol="0" anchor="ctr"/>
          <a:lstStyle/>
          <a:p>
            <a:pPr indent="0" marL="0">
              <a:buNone/>
            </a:pPr>
            <a:r>
              <a:rPr lang="en-US" sz="1100" dirty="0">
                <a:solidFill>
                  <a:srgbClr val="4A9055"/>
                </a:solidFill>
                <a:latin typeface="Arial" pitchFamily="34" charset="0"/>
                <a:ea typeface="Arial" pitchFamily="34" charset="-122"/>
                <a:cs typeface="Arial" pitchFamily="34" charset="-120"/>
              </a:rPr>
              <a:t>해결: App.tsx에서 useState로 screen 전환하는 단순 구조로 교체</a:t>
            </a:r>
            <a:endParaRPr lang="en-US" sz="1100" dirty="0"/>
          </a:p>
        </p:txBody>
      </p:sp>
      <p:sp>
        <p:nvSpPr>
          <p:cNvPr id="14" name="Text 12"/>
          <p:cNvSpPr/>
          <p:nvPr/>
        </p:nvSpPr>
        <p:spPr>
          <a:xfrm>
            <a:off x="457200" y="3264408"/>
            <a:ext cx="8229600" cy="228600"/>
          </a:xfrm>
          <a:prstGeom prst="rect">
            <a:avLst/>
          </a:prstGeom>
          <a:noFill/>
          <a:ln/>
        </p:spPr>
        <p:txBody>
          <a:bodyPr wrap="square" lIns="0" tIns="0" rIns="0" bIns="0" rtlCol="0" anchor="ctr"/>
          <a:lstStyle/>
          <a:p>
            <a:pPr indent="0" marL="0">
              <a:buNone/>
            </a:pPr>
            <a:r>
              <a:rPr lang="en-US" sz="1000" i="1" dirty="0">
                <a:solidFill>
                  <a:srgbClr val="5A7A5E"/>
                </a:solidFill>
                <a:latin typeface="Arial" pitchFamily="34" charset="0"/>
                <a:ea typeface="Arial" pitchFamily="34" charset="-122"/>
                <a:cs typeface="Arial" pitchFamily="34" charset="-120"/>
              </a:rPr>
              <a:t>교훈: 의존성 최소화 → 안정성 향상</a:t>
            </a:r>
            <a:endParaRPr lang="en-US" sz="1000" dirty="0"/>
          </a:p>
        </p:txBody>
      </p:sp>
      <p:sp>
        <p:nvSpPr>
          <p:cNvPr id="15" name="Shape 13"/>
          <p:cNvSpPr/>
          <p:nvPr/>
        </p:nvSpPr>
        <p:spPr>
          <a:xfrm>
            <a:off x="320040" y="3703320"/>
            <a:ext cx="8503920" cy="1188720"/>
          </a:xfrm>
          <a:prstGeom prst="roundRect">
            <a:avLst>
              <a:gd name="adj" fmla="val 7692"/>
            </a:avLst>
          </a:prstGeom>
          <a:solidFill>
            <a:srgbClr val="FFFFFF"/>
          </a:solidFill>
          <a:ln w="12700">
            <a:solidFill>
              <a:srgbClr val="C8E6C9"/>
            </a:solidFill>
            <a:prstDash val="solid"/>
          </a:ln>
          <a:effectLst>
            <a:outerShdw sx="100000" sy="100000" kx="0" ky="0" algn="bl" rotWithShape="0" blurRad="63500" dist="25400" dir="2700000">
              <a:srgbClr val="000000">
                <a:alpha val="12000"/>
              </a:srgbClr>
            </a:outerShdw>
          </a:effectLst>
        </p:spPr>
      </p:sp>
      <p:sp>
        <p:nvSpPr>
          <p:cNvPr id="16" name="Text 14"/>
          <p:cNvSpPr/>
          <p:nvPr/>
        </p:nvSpPr>
        <p:spPr>
          <a:xfrm>
            <a:off x="457200" y="3749040"/>
            <a:ext cx="4114800" cy="347472"/>
          </a:xfrm>
          <a:prstGeom prst="rect">
            <a:avLst/>
          </a:prstGeom>
          <a:noFill/>
          <a:ln/>
        </p:spPr>
        <p:txBody>
          <a:bodyPr wrap="square" lIns="0" tIns="0" rIns="0" bIns="0" rtlCol="0" anchor="ctr"/>
          <a:lstStyle/>
          <a:p>
            <a:pPr indent="0" marL="0">
              <a:buNone/>
            </a:pPr>
            <a:r>
              <a:rPr lang="en-US" sz="1400" b="1" dirty="0">
                <a:solidFill>
                  <a:srgbClr val="2E5233"/>
                </a:solidFill>
                <a:latin typeface="Arial" pitchFamily="34" charset="0"/>
                <a:ea typeface="Arial" pitchFamily="34" charset="-122"/>
                <a:cs typeface="Arial" pitchFamily="34" charset="-120"/>
              </a:rPr>
              <a:t>📡 Expo Go 네트워크 연결</a:t>
            </a:r>
            <a:endParaRPr lang="en-US" sz="1400" dirty="0"/>
          </a:p>
        </p:txBody>
      </p:sp>
      <p:sp>
        <p:nvSpPr>
          <p:cNvPr id="17" name="Text 15"/>
          <p:cNvSpPr/>
          <p:nvPr/>
        </p:nvSpPr>
        <p:spPr>
          <a:xfrm>
            <a:off x="457200" y="4096512"/>
            <a:ext cx="8229600" cy="246888"/>
          </a:xfrm>
          <a:prstGeom prst="rect">
            <a:avLst/>
          </a:prstGeom>
          <a:noFill/>
          <a:ln/>
        </p:spPr>
        <p:txBody>
          <a:bodyPr wrap="square" lIns="0" tIns="0" rIns="0" bIns="0" rtlCol="0" anchor="ctr"/>
          <a:lstStyle/>
          <a:p>
            <a:pPr indent="0" marL="0">
              <a:buNone/>
            </a:pPr>
            <a:r>
              <a:rPr lang="en-US" sz="1100" dirty="0">
                <a:solidFill>
                  <a:srgbClr val="C0392B"/>
                </a:solidFill>
                <a:latin typeface="Arial" pitchFamily="34" charset="0"/>
                <a:ea typeface="Arial" pitchFamily="34" charset="-122"/>
                <a:cs typeface="Arial" pitchFamily="34" charset="-120"/>
              </a:rPr>
              <a:t>문제: QR 스캔 후 연결 안 됨 (방화벽 차단)</a:t>
            </a:r>
            <a:endParaRPr lang="en-US" sz="1100" dirty="0"/>
          </a:p>
        </p:txBody>
      </p:sp>
      <p:sp>
        <p:nvSpPr>
          <p:cNvPr id="18" name="Text 16"/>
          <p:cNvSpPr/>
          <p:nvPr/>
        </p:nvSpPr>
        <p:spPr>
          <a:xfrm>
            <a:off x="457200" y="4343400"/>
            <a:ext cx="8229600" cy="246888"/>
          </a:xfrm>
          <a:prstGeom prst="rect">
            <a:avLst/>
          </a:prstGeom>
          <a:noFill/>
          <a:ln/>
        </p:spPr>
        <p:txBody>
          <a:bodyPr wrap="square" lIns="0" tIns="0" rIns="0" bIns="0" rtlCol="0" anchor="ctr"/>
          <a:lstStyle/>
          <a:p>
            <a:pPr indent="0" marL="0">
              <a:buNone/>
            </a:pPr>
            <a:r>
              <a:rPr lang="en-US" sz="1100" dirty="0">
                <a:solidFill>
                  <a:srgbClr val="4A9055"/>
                </a:solidFill>
                <a:latin typeface="Arial" pitchFamily="34" charset="0"/>
                <a:ea typeface="Arial" pitchFamily="34" charset="-122"/>
                <a:cs typeface="Arial" pitchFamily="34" charset="-120"/>
              </a:rPr>
              <a:t>해결: Mac 방화벽 비활성화 + 동일 Wi-Fi 확인 / --tunnel 모드</a:t>
            </a:r>
            <a:endParaRPr lang="en-US" sz="1100" dirty="0"/>
          </a:p>
        </p:txBody>
      </p:sp>
      <p:sp>
        <p:nvSpPr>
          <p:cNvPr id="19" name="Text 17"/>
          <p:cNvSpPr/>
          <p:nvPr/>
        </p:nvSpPr>
        <p:spPr>
          <a:xfrm>
            <a:off x="457200" y="4590288"/>
            <a:ext cx="8229600" cy="228600"/>
          </a:xfrm>
          <a:prstGeom prst="rect">
            <a:avLst/>
          </a:prstGeom>
          <a:noFill/>
          <a:ln/>
        </p:spPr>
        <p:txBody>
          <a:bodyPr wrap="square" lIns="0" tIns="0" rIns="0" bIns="0" rtlCol="0" anchor="ctr"/>
          <a:lstStyle/>
          <a:p>
            <a:pPr indent="0" marL="0">
              <a:buNone/>
            </a:pPr>
            <a:r>
              <a:rPr lang="en-US" sz="1000" i="1" dirty="0">
                <a:solidFill>
                  <a:srgbClr val="5A7A5E"/>
                </a:solidFill>
                <a:latin typeface="Arial" pitchFamily="34" charset="0"/>
                <a:ea typeface="Arial" pitchFamily="34" charset="-122"/>
                <a:cs typeface="Arial" pitchFamily="34" charset="-120"/>
              </a:rPr>
              <a:t>교훈: 모바일 개발 환경 설정의 중요성</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8F1"/>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2E5233"/>
          </a:solidFill>
          <a:ln w="12700">
            <a:solidFill>
              <a:srgbClr val="2E5233"/>
            </a:solidFill>
            <a:prstDash val="solid"/>
          </a:ln>
        </p:spPr>
      </p:sp>
      <p:sp>
        <p:nvSpPr>
          <p:cNvPr id="3" name="Text 1"/>
          <p:cNvSpPr/>
          <p:nvPr/>
        </p:nvSpPr>
        <p:spPr>
          <a:xfrm>
            <a:off x="365760" y="45720"/>
            <a:ext cx="7772400" cy="50292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개발 환경 &amp; 빌드/배포</a:t>
            </a:r>
            <a:endParaRPr lang="en-US" sz="2400" dirty="0"/>
          </a:p>
        </p:txBody>
      </p:sp>
      <p:sp>
        <p:nvSpPr>
          <p:cNvPr id="4" name="Text 2"/>
          <p:cNvSpPr/>
          <p:nvPr/>
        </p:nvSpPr>
        <p:spPr>
          <a:xfrm>
            <a:off x="365760" y="548640"/>
            <a:ext cx="8229600" cy="320040"/>
          </a:xfrm>
          <a:prstGeom prst="rect">
            <a:avLst/>
          </a:prstGeom>
          <a:noFill/>
          <a:ln/>
        </p:spPr>
        <p:txBody>
          <a:bodyPr wrap="square" lIns="0" tIns="0" rIns="0" bIns="0" rtlCol="0" anchor="ctr"/>
          <a:lstStyle/>
          <a:p>
            <a:pPr indent="0" marL="0">
              <a:buNone/>
            </a:pPr>
            <a:r>
              <a:rPr lang="en-US" sz="1200" dirty="0">
                <a:solidFill>
                  <a:srgbClr val="DDF0E1"/>
                </a:solidFill>
                <a:latin typeface="Arial" pitchFamily="34" charset="0"/>
                <a:ea typeface="Arial" pitchFamily="34" charset="-122"/>
                <a:cs typeface="Arial" pitchFamily="34" charset="-120"/>
              </a:rPr>
              <a:t>GitHub 설치 가이드 포함</a:t>
            </a:r>
            <a:endParaRPr lang="en-US" sz="1200" dirty="0"/>
          </a:p>
        </p:txBody>
      </p:sp>
      <p:sp>
        <p:nvSpPr>
          <p:cNvPr id="5" name="Shape 3"/>
          <p:cNvSpPr/>
          <p:nvPr/>
        </p:nvSpPr>
        <p:spPr>
          <a:xfrm>
            <a:off x="320040" y="1051560"/>
            <a:ext cx="4023360" cy="3657600"/>
          </a:xfrm>
          <a:prstGeom prst="roundRect">
            <a:avLst>
              <a:gd name="adj" fmla="val 2500"/>
            </a:avLst>
          </a:prstGeom>
          <a:solidFill>
            <a:srgbClr val="FFFFFF"/>
          </a:solidFill>
          <a:ln w="12700">
            <a:solidFill>
              <a:srgbClr val="C8E6C9"/>
            </a:solidFill>
            <a:prstDash val="solid"/>
          </a:ln>
          <a:effectLst>
            <a:outerShdw sx="100000" sy="100000" kx="0" ky="0" algn="bl" rotWithShape="0" blurRad="63500" dist="25400" dir="2700000">
              <a:srgbClr val="000000">
                <a:alpha val="12000"/>
              </a:srgbClr>
            </a:outerShdw>
          </a:effectLst>
        </p:spPr>
      </p:sp>
      <p:sp>
        <p:nvSpPr>
          <p:cNvPr id="6" name="Text 4"/>
          <p:cNvSpPr/>
          <p:nvPr/>
        </p:nvSpPr>
        <p:spPr>
          <a:xfrm>
            <a:off x="457200" y="1143000"/>
            <a:ext cx="3657600" cy="365760"/>
          </a:xfrm>
          <a:prstGeom prst="rect">
            <a:avLst/>
          </a:prstGeom>
          <a:noFill/>
          <a:ln/>
        </p:spPr>
        <p:txBody>
          <a:bodyPr wrap="square" lIns="0" tIns="0" rIns="0" bIns="0" rtlCol="0" anchor="ctr"/>
          <a:lstStyle/>
          <a:p>
            <a:pPr indent="0" marL="0">
              <a:buNone/>
            </a:pPr>
            <a:r>
              <a:rPr lang="en-US" sz="1500" b="1" dirty="0">
                <a:solidFill>
                  <a:srgbClr val="2E5233"/>
                </a:solidFill>
                <a:latin typeface="Arial" pitchFamily="34" charset="0"/>
                <a:ea typeface="Arial" pitchFamily="34" charset="-122"/>
                <a:cs typeface="Arial" pitchFamily="34" charset="-120"/>
              </a:rPr>
              <a:t>🛠️ 개발 환경 설정</a:t>
            </a:r>
            <a:endParaRPr lang="en-US" sz="1500" dirty="0"/>
          </a:p>
        </p:txBody>
      </p:sp>
      <p:sp>
        <p:nvSpPr>
          <p:cNvPr id="7" name="Text 5"/>
          <p:cNvSpPr/>
          <p:nvPr/>
        </p:nvSpPr>
        <p:spPr>
          <a:xfrm>
            <a:off x="457200" y="1600200"/>
            <a:ext cx="3749040" cy="411480"/>
          </a:xfrm>
          <a:prstGeom prst="rect">
            <a:avLst/>
          </a:prstGeom>
          <a:noFill/>
          <a:ln/>
        </p:spPr>
        <p:txBody>
          <a:bodyPr wrap="square" lIns="0" tIns="0" rIns="0" bIns="0" rtlCol="0" anchor="ctr"/>
          <a:lstStyle/>
          <a:p>
            <a:pPr indent="0" marL="0">
              <a:buNone/>
            </a:pPr>
            <a:r>
              <a:rPr lang="en-US" sz="1200" dirty="0">
                <a:solidFill>
                  <a:srgbClr val="1A2E1C"/>
                </a:solidFill>
                <a:latin typeface="Arial" pitchFamily="34" charset="0"/>
                <a:ea typeface="Arial" pitchFamily="34" charset="-122"/>
                <a:cs typeface="Arial" pitchFamily="34" charset="-120"/>
              </a:rPr>
              <a:t>① git clone + cd emotion-diary/emotion-diary</a:t>
            </a:r>
            <a:endParaRPr lang="en-US" sz="1200" dirty="0"/>
          </a:p>
        </p:txBody>
      </p:sp>
      <p:sp>
        <p:nvSpPr>
          <p:cNvPr id="8" name="Text 6"/>
          <p:cNvSpPr/>
          <p:nvPr/>
        </p:nvSpPr>
        <p:spPr>
          <a:xfrm>
            <a:off x="457200" y="2103120"/>
            <a:ext cx="3749040" cy="411480"/>
          </a:xfrm>
          <a:prstGeom prst="rect">
            <a:avLst/>
          </a:prstGeom>
          <a:noFill/>
          <a:ln/>
        </p:spPr>
        <p:txBody>
          <a:bodyPr wrap="square" lIns="0" tIns="0" rIns="0" bIns="0" rtlCol="0" anchor="ctr"/>
          <a:lstStyle/>
          <a:p>
            <a:pPr indent="0" marL="0">
              <a:buNone/>
            </a:pPr>
            <a:r>
              <a:rPr lang="en-US" sz="1200" b="1" dirty="0">
                <a:solidFill>
                  <a:srgbClr val="C0392B"/>
                </a:solidFill>
                <a:latin typeface="Arial" pitchFamily="34" charset="0"/>
                <a:ea typeface="Arial" pitchFamily="34" charset="-122"/>
                <a:cs typeface="Arial" pitchFamily="34" charset="-120"/>
              </a:rPr>
              <a:t>② npm install --legacy-peer-deps</a:t>
            </a:r>
            <a:endParaRPr lang="en-US" sz="1200" dirty="0"/>
          </a:p>
        </p:txBody>
      </p:sp>
      <p:sp>
        <p:nvSpPr>
          <p:cNvPr id="9" name="Text 7"/>
          <p:cNvSpPr/>
          <p:nvPr/>
        </p:nvSpPr>
        <p:spPr>
          <a:xfrm>
            <a:off x="457200" y="2606040"/>
            <a:ext cx="3749040" cy="411480"/>
          </a:xfrm>
          <a:prstGeom prst="rect">
            <a:avLst/>
          </a:prstGeom>
          <a:noFill/>
          <a:ln/>
        </p:spPr>
        <p:txBody>
          <a:bodyPr wrap="square" lIns="0" tIns="0" rIns="0" bIns="0" rtlCol="0" anchor="ctr"/>
          <a:lstStyle/>
          <a:p>
            <a:pPr indent="0" marL="0">
              <a:buNone/>
            </a:pPr>
            <a:r>
              <a:rPr lang="en-US" sz="1200" dirty="0">
                <a:solidFill>
                  <a:srgbClr val="1A2E1C"/>
                </a:solidFill>
                <a:latin typeface="Arial" pitchFamily="34" charset="0"/>
                <a:ea typeface="Arial" pitchFamily="34" charset="-122"/>
                <a:cs typeface="Arial" pitchFamily="34" charset="-120"/>
              </a:rPr>
              <a:t>③ cp .env.example .env  →  API 키 입력</a:t>
            </a:r>
            <a:endParaRPr lang="en-US" sz="1200" dirty="0"/>
          </a:p>
        </p:txBody>
      </p:sp>
      <p:sp>
        <p:nvSpPr>
          <p:cNvPr id="10" name="Text 8"/>
          <p:cNvSpPr/>
          <p:nvPr/>
        </p:nvSpPr>
        <p:spPr>
          <a:xfrm>
            <a:off x="457200" y="3108960"/>
            <a:ext cx="3749040" cy="411480"/>
          </a:xfrm>
          <a:prstGeom prst="rect">
            <a:avLst/>
          </a:prstGeom>
          <a:noFill/>
          <a:ln/>
        </p:spPr>
        <p:txBody>
          <a:bodyPr wrap="square" lIns="0" tIns="0" rIns="0" bIns="0" rtlCol="0" anchor="ctr"/>
          <a:lstStyle/>
          <a:p>
            <a:pPr indent="0" marL="0">
              <a:buNone/>
            </a:pPr>
            <a:r>
              <a:rPr lang="en-US" sz="1200" dirty="0">
                <a:solidFill>
                  <a:srgbClr val="1A2E1C"/>
                </a:solidFill>
                <a:latin typeface="Arial" pitchFamily="34" charset="0"/>
                <a:ea typeface="Arial" pitchFamily="34" charset="-122"/>
                <a:cs typeface="Arial" pitchFamily="34" charset="-120"/>
              </a:rPr>
              <a:t>④ Firebase 프로젝트 설정</a:t>
            </a:r>
            <a:endParaRPr lang="en-US" sz="1200" dirty="0"/>
          </a:p>
        </p:txBody>
      </p:sp>
      <p:sp>
        <p:nvSpPr>
          <p:cNvPr id="11" name="Text 9"/>
          <p:cNvSpPr/>
          <p:nvPr/>
        </p:nvSpPr>
        <p:spPr>
          <a:xfrm>
            <a:off x="457200" y="3611880"/>
            <a:ext cx="3749040" cy="411480"/>
          </a:xfrm>
          <a:prstGeom prst="rect">
            <a:avLst/>
          </a:prstGeom>
          <a:noFill/>
          <a:ln/>
        </p:spPr>
        <p:txBody>
          <a:bodyPr wrap="square" lIns="0" tIns="0" rIns="0" bIns="0" rtlCol="0" anchor="ctr"/>
          <a:lstStyle/>
          <a:p>
            <a:pPr indent="0" marL="0">
              <a:buNone/>
            </a:pPr>
            <a:r>
              <a:rPr lang="en-US" sz="1200" dirty="0">
                <a:solidFill>
                  <a:srgbClr val="1A2E1C"/>
                </a:solidFill>
                <a:latin typeface="Arial" pitchFamily="34" charset="0"/>
                <a:ea typeface="Arial" pitchFamily="34" charset="-122"/>
                <a:cs typeface="Arial" pitchFamily="34" charset="-120"/>
              </a:rPr>
              <a:t>⑤ npx expo start  →  QR 스캔</a:t>
            </a:r>
            <a:endParaRPr lang="en-US" sz="1200" dirty="0"/>
          </a:p>
        </p:txBody>
      </p:sp>
      <p:sp>
        <p:nvSpPr>
          <p:cNvPr id="12" name="Shape 10"/>
          <p:cNvSpPr/>
          <p:nvPr/>
        </p:nvSpPr>
        <p:spPr>
          <a:xfrm>
            <a:off x="457200" y="4114800"/>
            <a:ext cx="3749040" cy="411480"/>
          </a:xfrm>
          <a:prstGeom prst="roundRect">
            <a:avLst>
              <a:gd name="adj" fmla="val 17778"/>
            </a:avLst>
          </a:prstGeom>
          <a:solidFill>
            <a:srgbClr val="DDF0E1"/>
          </a:solidFill>
          <a:ln w="12700">
            <a:solidFill>
              <a:srgbClr val="6BAE72"/>
            </a:solidFill>
            <a:prstDash val="solid"/>
          </a:ln>
        </p:spPr>
      </p:sp>
      <p:sp>
        <p:nvSpPr>
          <p:cNvPr id="13" name="Text 11"/>
          <p:cNvSpPr/>
          <p:nvPr/>
        </p:nvSpPr>
        <p:spPr>
          <a:xfrm>
            <a:off x="502920" y="4133088"/>
            <a:ext cx="3657600" cy="347472"/>
          </a:xfrm>
          <a:prstGeom prst="rect">
            <a:avLst/>
          </a:prstGeom>
          <a:noFill/>
          <a:ln/>
        </p:spPr>
        <p:txBody>
          <a:bodyPr wrap="square" lIns="0" tIns="0" rIns="0" bIns="0" rtlCol="0" anchor="ctr"/>
          <a:lstStyle/>
          <a:p>
            <a:pPr algn="ctr" indent="0" marL="0">
              <a:buNone/>
            </a:pPr>
            <a:r>
              <a:rPr lang="en-US" sz="1100" b="1" dirty="0">
                <a:solidFill>
                  <a:srgbClr val="C0392B"/>
                </a:solidFill>
                <a:latin typeface="Arial" pitchFamily="34" charset="0"/>
                <a:ea typeface="Arial" pitchFamily="34" charset="-122"/>
                <a:cs typeface="Arial" pitchFamily="34" charset="-120"/>
              </a:rPr>
              <a:t>⚠ --legacy-peer-deps 필수 (SDK 54 호환성)</a:t>
            </a:r>
            <a:endParaRPr lang="en-US" sz="1100" dirty="0"/>
          </a:p>
        </p:txBody>
      </p:sp>
      <p:sp>
        <p:nvSpPr>
          <p:cNvPr id="14" name="Shape 12"/>
          <p:cNvSpPr/>
          <p:nvPr/>
        </p:nvSpPr>
        <p:spPr>
          <a:xfrm>
            <a:off x="4572000" y="1051560"/>
            <a:ext cx="4251960" cy="3657600"/>
          </a:xfrm>
          <a:prstGeom prst="roundRect">
            <a:avLst>
              <a:gd name="adj" fmla="val 2500"/>
            </a:avLst>
          </a:prstGeom>
          <a:solidFill>
            <a:srgbClr val="FFFFFF"/>
          </a:solidFill>
          <a:ln w="12700">
            <a:solidFill>
              <a:srgbClr val="C8E6C9"/>
            </a:solidFill>
            <a:prstDash val="solid"/>
          </a:ln>
          <a:effectLst>
            <a:outerShdw sx="100000" sy="100000" kx="0" ky="0" algn="bl" rotWithShape="0" blurRad="63500" dist="25400" dir="2700000">
              <a:srgbClr val="000000">
                <a:alpha val="12000"/>
              </a:srgbClr>
            </a:outerShdw>
          </a:effectLst>
        </p:spPr>
      </p:sp>
      <p:sp>
        <p:nvSpPr>
          <p:cNvPr id="15" name="Text 13"/>
          <p:cNvSpPr/>
          <p:nvPr/>
        </p:nvSpPr>
        <p:spPr>
          <a:xfrm>
            <a:off x="4709160" y="1143000"/>
            <a:ext cx="3840480" cy="365760"/>
          </a:xfrm>
          <a:prstGeom prst="rect">
            <a:avLst/>
          </a:prstGeom>
          <a:noFill/>
          <a:ln/>
        </p:spPr>
        <p:txBody>
          <a:bodyPr wrap="square" lIns="0" tIns="0" rIns="0" bIns="0" rtlCol="0" anchor="ctr"/>
          <a:lstStyle/>
          <a:p>
            <a:pPr indent="0" marL="0">
              <a:buNone/>
            </a:pPr>
            <a:r>
              <a:rPr lang="en-US" sz="1500" b="1" dirty="0">
                <a:solidFill>
                  <a:srgbClr val="2E5233"/>
                </a:solidFill>
                <a:latin typeface="Arial" pitchFamily="34" charset="0"/>
                <a:ea typeface="Arial" pitchFamily="34" charset="-122"/>
                <a:cs typeface="Arial" pitchFamily="34" charset="-120"/>
              </a:rPr>
              <a:t>🚀 빌드 &amp; 배포 단계</a:t>
            </a:r>
            <a:endParaRPr lang="en-US" sz="1500" dirty="0"/>
          </a:p>
        </p:txBody>
      </p:sp>
      <p:sp>
        <p:nvSpPr>
          <p:cNvPr id="16" name="Shape 14"/>
          <p:cNvSpPr/>
          <p:nvPr/>
        </p:nvSpPr>
        <p:spPr>
          <a:xfrm>
            <a:off x="4709160" y="1600200"/>
            <a:ext cx="3977640" cy="749808"/>
          </a:xfrm>
          <a:prstGeom prst="roundRect">
            <a:avLst>
              <a:gd name="adj" fmla="val 9756"/>
            </a:avLst>
          </a:prstGeom>
          <a:solidFill>
            <a:srgbClr val="DDF0E1"/>
          </a:solidFill>
          <a:ln w="12700">
            <a:solidFill>
              <a:srgbClr val="C8E6C9"/>
            </a:solidFill>
            <a:prstDash val="solid"/>
          </a:ln>
        </p:spPr>
      </p:sp>
      <p:sp>
        <p:nvSpPr>
          <p:cNvPr id="17" name="Text 15"/>
          <p:cNvSpPr/>
          <p:nvPr/>
        </p:nvSpPr>
        <p:spPr>
          <a:xfrm>
            <a:off x="4800600" y="1636776"/>
            <a:ext cx="1097280" cy="274320"/>
          </a:xfrm>
          <a:prstGeom prst="rect">
            <a:avLst/>
          </a:prstGeom>
          <a:noFill/>
          <a:ln/>
        </p:spPr>
        <p:txBody>
          <a:bodyPr wrap="square" lIns="0" tIns="0" rIns="0" bIns="0" rtlCol="0" anchor="ctr"/>
          <a:lstStyle/>
          <a:p>
            <a:pPr indent="0" marL="0">
              <a:buNone/>
            </a:pPr>
            <a:r>
              <a:rPr lang="en-US" sz="1100" b="1" dirty="0">
                <a:solidFill>
                  <a:srgbClr val="6BAE72"/>
                </a:solidFill>
                <a:latin typeface="Arial" pitchFamily="34" charset="0"/>
                <a:ea typeface="Arial" pitchFamily="34" charset="-122"/>
                <a:cs typeface="Arial" pitchFamily="34" charset="-120"/>
              </a:rPr>
              <a:t>DEBUG</a:t>
            </a:r>
            <a:endParaRPr lang="en-US" sz="1100" dirty="0"/>
          </a:p>
        </p:txBody>
      </p:sp>
      <p:sp>
        <p:nvSpPr>
          <p:cNvPr id="18" name="Text 16"/>
          <p:cNvSpPr/>
          <p:nvPr/>
        </p:nvSpPr>
        <p:spPr>
          <a:xfrm>
            <a:off x="5989320" y="1636776"/>
            <a:ext cx="2560320" cy="274320"/>
          </a:xfrm>
          <a:prstGeom prst="rect">
            <a:avLst/>
          </a:prstGeom>
          <a:noFill/>
          <a:ln/>
        </p:spPr>
        <p:txBody>
          <a:bodyPr wrap="square" lIns="0" tIns="0" rIns="0" bIns="0" rtlCol="0" anchor="ctr"/>
          <a:lstStyle/>
          <a:p>
            <a:pPr indent="0" marL="0">
              <a:buNone/>
            </a:pPr>
            <a:r>
              <a:rPr lang="en-US" sz="1000" dirty="0">
                <a:solidFill>
                  <a:srgbClr val="5A7A5E"/>
                </a:solidFill>
                <a:latin typeface="Arial" pitchFamily="34" charset="0"/>
                <a:ea typeface="Arial" pitchFamily="34" charset="-122"/>
                <a:cs typeface="Arial" pitchFamily="34" charset="-120"/>
              </a:rPr>
              <a:t>개발 중 실시간</a:t>
            </a:r>
            <a:endParaRPr lang="en-US" sz="1000" dirty="0"/>
          </a:p>
        </p:txBody>
      </p:sp>
      <p:sp>
        <p:nvSpPr>
          <p:cNvPr id="19" name="Text 17"/>
          <p:cNvSpPr/>
          <p:nvPr/>
        </p:nvSpPr>
        <p:spPr>
          <a:xfrm>
            <a:off x="4800600" y="1947672"/>
            <a:ext cx="3840480" cy="274320"/>
          </a:xfrm>
          <a:prstGeom prst="rect">
            <a:avLst/>
          </a:prstGeom>
          <a:noFill/>
          <a:ln/>
        </p:spPr>
        <p:txBody>
          <a:bodyPr wrap="square" lIns="0" tIns="0" rIns="0" bIns="0" rtlCol="0" anchor="ctr"/>
          <a:lstStyle/>
          <a:p>
            <a:pPr indent="0" marL="0">
              <a:buNone/>
            </a:pPr>
            <a:r>
              <a:rPr lang="en-US" sz="1000" dirty="0">
                <a:solidFill>
                  <a:srgbClr val="1B5E20"/>
                </a:solidFill>
                <a:latin typeface="Courier New" pitchFamily="34" charset="0"/>
                <a:ea typeface="Courier New" pitchFamily="34" charset="-122"/>
                <a:cs typeface="Courier New" pitchFamily="34" charset="-120"/>
              </a:rPr>
              <a:t>npx expo start</a:t>
            </a:r>
            <a:endParaRPr lang="en-US" sz="1000" dirty="0"/>
          </a:p>
        </p:txBody>
      </p:sp>
      <p:sp>
        <p:nvSpPr>
          <p:cNvPr id="20" name="Shape 18"/>
          <p:cNvSpPr/>
          <p:nvPr/>
        </p:nvSpPr>
        <p:spPr>
          <a:xfrm>
            <a:off x="4709160" y="2468880"/>
            <a:ext cx="3977640" cy="749808"/>
          </a:xfrm>
          <a:prstGeom prst="roundRect">
            <a:avLst>
              <a:gd name="adj" fmla="val 9756"/>
            </a:avLst>
          </a:prstGeom>
          <a:solidFill>
            <a:srgbClr val="F0F8F1"/>
          </a:solidFill>
          <a:ln w="12700">
            <a:solidFill>
              <a:srgbClr val="C8E6C9"/>
            </a:solidFill>
            <a:prstDash val="solid"/>
          </a:ln>
        </p:spPr>
      </p:sp>
      <p:sp>
        <p:nvSpPr>
          <p:cNvPr id="21" name="Text 19"/>
          <p:cNvSpPr/>
          <p:nvPr/>
        </p:nvSpPr>
        <p:spPr>
          <a:xfrm>
            <a:off x="4800600" y="2505456"/>
            <a:ext cx="1097280" cy="274320"/>
          </a:xfrm>
          <a:prstGeom prst="rect">
            <a:avLst/>
          </a:prstGeom>
          <a:noFill/>
          <a:ln/>
        </p:spPr>
        <p:txBody>
          <a:bodyPr wrap="square" lIns="0" tIns="0" rIns="0" bIns="0" rtlCol="0" anchor="ctr"/>
          <a:lstStyle/>
          <a:p>
            <a:pPr indent="0" marL="0">
              <a:buNone/>
            </a:pPr>
            <a:r>
              <a:rPr lang="en-US" sz="1100" b="1" dirty="0">
                <a:solidFill>
                  <a:srgbClr val="6BAE72"/>
                </a:solidFill>
                <a:latin typeface="Arial" pitchFamily="34" charset="0"/>
                <a:ea typeface="Arial" pitchFamily="34" charset="-122"/>
                <a:cs typeface="Arial" pitchFamily="34" charset="-120"/>
              </a:rPr>
              <a:t>PREVIEW</a:t>
            </a:r>
            <a:endParaRPr lang="en-US" sz="1100" dirty="0"/>
          </a:p>
        </p:txBody>
      </p:sp>
      <p:sp>
        <p:nvSpPr>
          <p:cNvPr id="22" name="Text 20"/>
          <p:cNvSpPr/>
          <p:nvPr/>
        </p:nvSpPr>
        <p:spPr>
          <a:xfrm>
            <a:off x="5989320" y="2505456"/>
            <a:ext cx="2560320" cy="274320"/>
          </a:xfrm>
          <a:prstGeom prst="rect">
            <a:avLst/>
          </a:prstGeom>
          <a:noFill/>
          <a:ln/>
        </p:spPr>
        <p:txBody>
          <a:bodyPr wrap="square" lIns="0" tIns="0" rIns="0" bIns="0" rtlCol="0" anchor="ctr"/>
          <a:lstStyle/>
          <a:p>
            <a:pPr indent="0" marL="0">
              <a:buNone/>
            </a:pPr>
            <a:r>
              <a:rPr lang="en-US" sz="1000" dirty="0">
                <a:solidFill>
                  <a:srgbClr val="5A7A5E"/>
                </a:solidFill>
                <a:latin typeface="Arial" pitchFamily="34" charset="0"/>
                <a:ea typeface="Arial" pitchFamily="34" charset="-122"/>
                <a:cs typeface="Arial" pitchFamily="34" charset="-120"/>
              </a:rPr>
              <a:t>APK 사이드로드</a:t>
            </a:r>
            <a:endParaRPr lang="en-US" sz="1000" dirty="0"/>
          </a:p>
        </p:txBody>
      </p:sp>
      <p:sp>
        <p:nvSpPr>
          <p:cNvPr id="23" name="Text 21"/>
          <p:cNvSpPr/>
          <p:nvPr/>
        </p:nvSpPr>
        <p:spPr>
          <a:xfrm>
            <a:off x="4800600" y="2816352"/>
            <a:ext cx="3840480" cy="274320"/>
          </a:xfrm>
          <a:prstGeom prst="rect">
            <a:avLst/>
          </a:prstGeom>
          <a:noFill/>
          <a:ln/>
        </p:spPr>
        <p:txBody>
          <a:bodyPr wrap="square" lIns="0" tIns="0" rIns="0" bIns="0" rtlCol="0" anchor="ctr"/>
          <a:lstStyle/>
          <a:p>
            <a:pPr indent="0" marL="0">
              <a:buNone/>
            </a:pPr>
            <a:r>
              <a:rPr lang="en-US" sz="1000" dirty="0">
                <a:solidFill>
                  <a:srgbClr val="1B5E20"/>
                </a:solidFill>
                <a:latin typeface="Courier New" pitchFamily="34" charset="0"/>
                <a:ea typeface="Courier New" pitchFamily="34" charset="-122"/>
                <a:cs typeface="Courier New" pitchFamily="34" charset="-120"/>
              </a:rPr>
              <a:t>npx eas build --profile preview</a:t>
            </a:r>
            <a:endParaRPr lang="en-US" sz="1000" dirty="0"/>
          </a:p>
        </p:txBody>
      </p:sp>
      <p:sp>
        <p:nvSpPr>
          <p:cNvPr id="24" name="Shape 22"/>
          <p:cNvSpPr/>
          <p:nvPr/>
        </p:nvSpPr>
        <p:spPr>
          <a:xfrm>
            <a:off x="4709160" y="3337560"/>
            <a:ext cx="3977640" cy="749808"/>
          </a:xfrm>
          <a:prstGeom prst="roundRect">
            <a:avLst>
              <a:gd name="adj" fmla="val 9756"/>
            </a:avLst>
          </a:prstGeom>
          <a:solidFill>
            <a:srgbClr val="F0F8F1"/>
          </a:solidFill>
          <a:ln w="12700">
            <a:solidFill>
              <a:srgbClr val="C8E6C9"/>
            </a:solidFill>
            <a:prstDash val="solid"/>
          </a:ln>
        </p:spPr>
      </p:sp>
      <p:sp>
        <p:nvSpPr>
          <p:cNvPr id="25" name="Text 23"/>
          <p:cNvSpPr/>
          <p:nvPr/>
        </p:nvSpPr>
        <p:spPr>
          <a:xfrm>
            <a:off x="4800600" y="3374136"/>
            <a:ext cx="1097280" cy="274320"/>
          </a:xfrm>
          <a:prstGeom prst="rect">
            <a:avLst/>
          </a:prstGeom>
          <a:noFill/>
          <a:ln/>
        </p:spPr>
        <p:txBody>
          <a:bodyPr wrap="square" lIns="0" tIns="0" rIns="0" bIns="0" rtlCol="0" anchor="ctr"/>
          <a:lstStyle/>
          <a:p>
            <a:pPr indent="0" marL="0">
              <a:buNone/>
            </a:pPr>
            <a:r>
              <a:rPr lang="en-US" sz="1100" b="1" dirty="0">
                <a:solidFill>
                  <a:srgbClr val="6BAE72"/>
                </a:solidFill>
                <a:latin typeface="Arial" pitchFamily="34" charset="0"/>
                <a:ea typeface="Arial" pitchFamily="34" charset="-122"/>
                <a:cs typeface="Arial" pitchFamily="34" charset="-120"/>
              </a:rPr>
              <a:t>PRODUCTION</a:t>
            </a:r>
            <a:endParaRPr lang="en-US" sz="1100" dirty="0"/>
          </a:p>
        </p:txBody>
      </p:sp>
      <p:sp>
        <p:nvSpPr>
          <p:cNvPr id="26" name="Text 24"/>
          <p:cNvSpPr/>
          <p:nvPr/>
        </p:nvSpPr>
        <p:spPr>
          <a:xfrm>
            <a:off x="5989320" y="3374136"/>
            <a:ext cx="2560320" cy="274320"/>
          </a:xfrm>
          <a:prstGeom prst="rect">
            <a:avLst/>
          </a:prstGeom>
          <a:noFill/>
          <a:ln/>
        </p:spPr>
        <p:txBody>
          <a:bodyPr wrap="square" lIns="0" tIns="0" rIns="0" bIns="0" rtlCol="0" anchor="ctr"/>
          <a:lstStyle/>
          <a:p>
            <a:pPr indent="0" marL="0">
              <a:buNone/>
            </a:pPr>
            <a:r>
              <a:rPr lang="en-US" sz="1000" dirty="0">
                <a:solidFill>
                  <a:srgbClr val="5A7A5E"/>
                </a:solidFill>
                <a:latin typeface="Arial" pitchFamily="34" charset="0"/>
                <a:ea typeface="Arial" pitchFamily="34" charset="-122"/>
                <a:cs typeface="Arial" pitchFamily="34" charset="-120"/>
              </a:rPr>
              <a:t>실배포</a:t>
            </a:r>
            <a:endParaRPr lang="en-US" sz="1000" dirty="0"/>
          </a:p>
        </p:txBody>
      </p:sp>
      <p:sp>
        <p:nvSpPr>
          <p:cNvPr id="27" name="Text 25"/>
          <p:cNvSpPr/>
          <p:nvPr/>
        </p:nvSpPr>
        <p:spPr>
          <a:xfrm>
            <a:off x="4800600" y="3685032"/>
            <a:ext cx="3840480" cy="274320"/>
          </a:xfrm>
          <a:prstGeom prst="rect">
            <a:avLst/>
          </a:prstGeom>
          <a:noFill/>
          <a:ln/>
        </p:spPr>
        <p:txBody>
          <a:bodyPr wrap="square" lIns="0" tIns="0" rIns="0" bIns="0" rtlCol="0" anchor="ctr"/>
          <a:lstStyle/>
          <a:p>
            <a:pPr indent="0" marL="0">
              <a:buNone/>
            </a:pPr>
            <a:r>
              <a:rPr lang="en-US" sz="1000" dirty="0">
                <a:solidFill>
                  <a:srgbClr val="1B5E20"/>
                </a:solidFill>
                <a:latin typeface="Courier New" pitchFamily="34" charset="0"/>
                <a:ea typeface="Courier New" pitchFamily="34" charset="-122"/>
                <a:cs typeface="Courier New" pitchFamily="34" charset="-120"/>
              </a:rPr>
              <a:t>npx eas build --profile production</a:t>
            </a:r>
            <a:endParaRPr lang="en-US" sz="1000" dirty="0"/>
          </a:p>
        </p:txBody>
      </p:sp>
      <p:sp>
        <p:nvSpPr>
          <p:cNvPr id="28" name="Text 26"/>
          <p:cNvSpPr/>
          <p:nvPr/>
        </p:nvSpPr>
        <p:spPr>
          <a:xfrm>
            <a:off x="4709160" y="4114800"/>
            <a:ext cx="3977640" cy="502920"/>
          </a:xfrm>
          <a:prstGeom prst="rect">
            <a:avLst/>
          </a:prstGeom>
          <a:noFill/>
          <a:ln/>
        </p:spPr>
        <p:txBody>
          <a:bodyPr wrap="square" rtlCol="0" anchor="ctr"/>
          <a:lstStyle/>
          <a:p>
            <a:pPr indent="0" marL="0">
              <a:buNone/>
            </a:pPr>
            <a:r>
              <a:rPr lang="en-US" sz="1100" dirty="0">
                <a:solidFill>
                  <a:srgbClr val="5A7A5E"/>
                </a:solidFill>
                <a:latin typeface="Arial" pitchFamily="34" charset="0"/>
                <a:ea typeface="Arial" pitchFamily="34" charset="-122"/>
                <a:cs typeface="Arial" pitchFamily="34" charset="-120"/>
              </a:rPr>
              <a:t>빌드: 소스코드 → 실행 가능한 바이너리(.apk/.ipa)</a:t>
            </a:r>
            <a:endParaRPr lang="en-US" sz="1100" dirty="0"/>
          </a:p>
          <a:p>
            <a:pPr indent="0" marL="0">
              <a:buNone/>
            </a:pPr>
            <a:r>
              <a:rPr lang="en-US" sz="1100" dirty="0">
                <a:solidFill>
                  <a:srgbClr val="5A7A5E"/>
                </a:solidFill>
                <a:latin typeface="Arial" pitchFamily="34" charset="0"/>
                <a:ea typeface="Arial" pitchFamily="34" charset="-122"/>
                <a:cs typeface="Arial" pitchFamily="34" charset="-120"/>
              </a:rPr>
              <a:t>배포: 사용자 기기에 전달하는 과정</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8F1"/>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2E5233"/>
          </a:solidFill>
          <a:ln w="12700">
            <a:solidFill>
              <a:srgbClr val="2E5233"/>
            </a:solidFill>
            <a:prstDash val="solid"/>
          </a:ln>
        </p:spPr>
      </p:sp>
      <p:sp>
        <p:nvSpPr>
          <p:cNvPr id="3" name="Text 1"/>
          <p:cNvSpPr/>
          <p:nvPr/>
        </p:nvSpPr>
        <p:spPr>
          <a:xfrm>
            <a:off x="365760" y="45720"/>
            <a:ext cx="7772400" cy="50292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ADR &amp; 코드 품질 / 테스트</a:t>
            </a:r>
            <a:endParaRPr lang="en-US" sz="2400" dirty="0"/>
          </a:p>
        </p:txBody>
      </p:sp>
      <p:sp>
        <p:nvSpPr>
          <p:cNvPr id="4" name="Text 2"/>
          <p:cNvSpPr/>
          <p:nvPr/>
        </p:nvSpPr>
        <p:spPr>
          <a:xfrm>
            <a:off x="365760" y="548640"/>
            <a:ext cx="8229600" cy="320040"/>
          </a:xfrm>
          <a:prstGeom prst="rect">
            <a:avLst/>
          </a:prstGeom>
          <a:noFill/>
          <a:ln/>
        </p:spPr>
        <p:txBody>
          <a:bodyPr wrap="square" lIns="0" tIns="0" rIns="0" bIns="0" rtlCol="0" anchor="ctr"/>
          <a:lstStyle/>
          <a:p>
            <a:pPr indent="0" marL="0">
              <a:buNone/>
            </a:pPr>
            <a:r>
              <a:rPr lang="en-US" sz="1200" dirty="0">
                <a:solidFill>
                  <a:srgbClr val="DDF0E1"/>
                </a:solidFill>
                <a:latin typeface="Arial" pitchFamily="34" charset="0"/>
                <a:ea typeface="Arial" pitchFamily="34" charset="-122"/>
                <a:cs typeface="Arial" pitchFamily="34" charset="-120"/>
              </a:rPr>
              <a:t>의사결정 기록 + 품질 관리</a:t>
            </a:r>
            <a:endParaRPr lang="en-US" sz="1200" dirty="0"/>
          </a:p>
        </p:txBody>
      </p:sp>
      <p:sp>
        <p:nvSpPr>
          <p:cNvPr id="5" name="Shape 3"/>
          <p:cNvSpPr/>
          <p:nvPr/>
        </p:nvSpPr>
        <p:spPr>
          <a:xfrm>
            <a:off x="320040" y="1051560"/>
            <a:ext cx="5029200" cy="1078992"/>
          </a:xfrm>
          <a:prstGeom prst="roundRect">
            <a:avLst>
              <a:gd name="adj" fmla="val 8475"/>
            </a:avLst>
          </a:prstGeom>
          <a:solidFill>
            <a:srgbClr val="FFFFFF"/>
          </a:solidFill>
          <a:ln w="12700">
            <a:solidFill>
              <a:srgbClr val="C8E6C9"/>
            </a:solidFill>
            <a:prstDash val="solid"/>
          </a:ln>
          <a:effectLst>
            <a:outerShdw sx="100000" sy="100000" kx="0" ky="0" algn="bl" rotWithShape="0" blurRad="63500" dist="25400" dir="2700000">
              <a:srgbClr val="000000">
                <a:alpha val="12000"/>
              </a:srgbClr>
            </a:outerShdw>
          </a:effectLst>
        </p:spPr>
      </p:sp>
      <p:sp>
        <p:nvSpPr>
          <p:cNvPr id="6" name="Shape 4"/>
          <p:cNvSpPr/>
          <p:nvPr/>
        </p:nvSpPr>
        <p:spPr>
          <a:xfrm>
            <a:off x="411480" y="1143000"/>
            <a:ext cx="1005840" cy="320040"/>
          </a:xfrm>
          <a:prstGeom prst="roundRect">
            <a:avLst>
              <a:gd name="adj" fmla="val 17143"/>
            </a:avLst>
          </a:prstGeom>
          <a:solidFill>
            <a:srgbClr val="6BAE72"/>
          </a:solidFill>
          <a:ln w="12700">
            <a:solidFill>
              <a:srgbClr val="6BAE72"/>
            </a:solidFill>
            <a:prstDash val="solid"/>
          </a:ln>
        </p:spPr>
      </p:sp>
      <p:sp>
        <p:nvSpPr>
          <p:cNvPr id="7" name="Text 5"/>
          <p:cNvSpPr/>
          <p:nvPr/>
        </p:nvSpPr>
        <p:spPr>
          <a:xfrm>
            <a:off x="411480" y="1143000"/>
            <a:ext cx="1005840" cy="320040"/>
          </a:xfrm>
          <a:prstGeom prst="rect">
            <a:avLst/>
          </a:prstGeom>
          <a:noFill/>
          <a:ln/>
        </p:spPr>
        <p:txBody>
          <a:bodyPr wrap="square" lIns="0" tIns="0" rIns="0" bIns="0" rtlCol="0" anchor="ctr"/>
          <a:lstStyle/>
          <a:p>
            <a:pPr algn="ctr" indent="0" marL="0">
              <a:buNone/>
            </a:pPr>
            <a:r>
              <a:rPr lang="en-US" sz="1000" b="1" dirty="0">
                <a:solidFill>
                  <a:srgbClr val="FFFFFF"/>
                </a:solidFill>
              </a:rPr>
              <a:t>ADR-0001</a:t>
            </a:r>
            <a:endParaRPr lang="en-US" sz="1000" dirty="0"/>
          </a:p>
        </p:txBody>
      </p:sp>
      <p:sp>
        <p:nvSpPr>
          <p:cNvPr id="8" name="Text 6"/>
          <p:cNvSpPr/>
          <p:nvPr/>
        </p:nvSpPr>
        <p:spPr>
          <a:xfrm>
            <a:off x="1508760" y="1124712"/>
            <a:ext cx="3749040" cy="301752"/>
          </a:xfrm>
          <a:prstGeom prst="rect">
            <a:avLst/>
          </a:prstGeom>
          <a:noFill/>
          <a:ln/>
        </p:spPr>
        <p:txBody>
          <a:bodyPr wrap="square" lIns="0" tIns="0" rIns="0" bIns="0" rtlCol="0" anchor="ctr"/>
          <a:lstStyle/>
          <a:p>
            <a:pPr indent="0" marL="0">
              <a:buNone/>
            </a:pPr>
            <a:r>
              <a:rPr lang="en-US" sz="1300" b="1" dirty="0">
                <a:solidFill>
                  <a:srgbClr val="2E5233"/>
                </a:solidFill>
                <a:latin typeface="Arial" pitchFamily="34" charset="0"/>
                <a:ea typeface="Arial" pitchFamily="34" charset="-122"/>
                <a:cs typeface="Arial" pitchFamily="34" charset="-120"/>
              </a:rPr>
              <a:t>React Native + Expo 선택</a:t>
            </a:r>
            <a:endParaRPr lang="en-US" sz="1300" dirty="0"/>
          </a:p>
        </p:txBody>
      </p:sp>
      <p:sp>
        <p:nvSpPr>
          <p:cNvPr id="9" name="Text 7"/>
          <p:cNvSpPr/>
          <p:nvPr/>
        </p:nvSpPr>
        <p:spPr>
          <a:xfrm>
            <a:off x="457200" y="1508760"/>
            <a:ext cx="4754880" cy="246888"/>
          </a:xfrm>
          <a:prstGeom prst="rect">
            <a:avLst/>
          </a:prstGeom>
          <a:noFill/>
          <a:ln/>
        </p:spPr>
        <p:txBody>
          <a:bodyPr wrap="square" lIns="0" tIns="0" rIns="0" bIns="0" rtlCol="0" anchor="ctr"/>
          <a:lstStyle/>
          <a:p>
            <a:pPr indent="0" marL="0">
              <a:buNone/>
            </a:pPr>
            <a:r>
              <a:rPr lang="en-US" sz="1100" b="1" dirty="0">
                <a:solidFill>
                  <a:srgbClr val="4A9055"/>
                </a:solidFill>
                <a:latin typeface="Arial" pitchFamily="34" charset="0"/>
                <a:ea typeface="Arial" pitchFamily="34" charset="-122"/>
                <a:cs typeface="Arial" pitchFamily="34" charset="-120"/>
              </a:rPr>
              <a:t>결정: React Native + Expo SDK 54</a:t>
            </a:r>
            <a:endParaRPr lang="en-US" sz="1100" dirty="0"/>
          </a:p>
        </p:txBody>
      </p:sp>
      <p:sp>
        <p:nvSpPr>
          <p:cNvPr id="10" name="Text 8"/>
          <p:cNvSpPr/>
          <p:nvPr/>
        </p:nvSpPr>
        <p:spPr>
          <a:xfrm>
            <a:off x="457200" y="1755648"/>
            <a:ext cx="4754880" cy="246888"/>
          </a:xfrm>
          <a:prstGeom prst="rect">
            <a:avLst/>
          </a:prstGeom>
          <a:noFill/>
          <a:ln/>
        </p:spPr>
        <p:txBody>
          <a:bodyPr wrap="square" lIns="0" tIns="0" rIns="0" bIns="0" rtlCol="0" anchor="ctr"/>
          <a:lstStyle/>
          <a:p>
            <a:pPr indent="0" marL="0">
              <a:buNone/>
            </a:pPr>
            <a:r>
              <a:rPr lang="en-US" sz="1000" dirty="0">
                <a:solidFill>
                  <a:srgbClr val="5A7A5E"/>
                </a:solidFill>
                <a:latin typeface="Arial" pitchFamily="34" charset="0"/>
                <a:ea typeface="Arial" pitchFamily="34" charset="-122"/>
                <a:cs typeface="Arial" pitchFamily="34" charset="-120"/>
              </a:rPr>
              <a:t>이유: 웹 지식 재사용, Expo Go 즉시 테스트, 커뮤니티 풍부</a:t>
            </a:r>
            <a:endParaRPr lang="en-US" sz="1000" dirty="0"/>
          </a:p>
        </p:txBody>
      </p:sp>
      <p:sp>
        <p:nvSpPr>
          <p:cNvPr id="11" name="Shape 9"/>
          <p:cNvSpPr/>
          <p:nvPr/>
        </p:nvSpPr>
        <p:spPr>
          <a:xfrm>
            <a:off x="320040" y="2240280"/>
            <a:ext cx="5029200" cy="1078992"/>
          </a:xfrm>
          <a:prstGeom prst="roundRect">
            <a:avLst>
              <a:gd name="adj" fmla="val 8475"/>
            </a:avLst>
          </a:prstGeom>
          <a:solidFill>
            <a:srgbClr val="FFFFFF"/>
          </a:solidFill>
          <a:ln w="12700">
            <a:solidFill>
              <a:srgbClr val="C8E6C9"/>
            </a:solidFill>
            <a:prstDash val="solid"/>
          </a:ln>
          <a:effectLst>
            <a:outerShdw sx="100000" sy="100000" kx="0" ky="0" algn="bl" rotWithShape="0" blurRad="63500" dist="25400" dir="2700000">
              <a:srgbClr val="000000">
                <a:alpha val="12000"/>
              </a:srgbClr>
            </a:outerShdw>
          </a:effectLst>
        </p:spPr>
      </p:sp>
      <p:sp>
        <p:nvSpPr>
          <p:cNvPr id="12" name="Shape 10"/>
          <p:cNvSpPr/>
          <p:nvPr/>
        </p:nvSpPr>
        <p:spPr>
          <a:xfrm>
            <a:off x="411480" y="2331720"/>
            <a:ext cx="1005840" cy="320040"/>
          </a:xfrm>
          <a:prstGeom prst="roundRect">
            <a:avLst>
              <a:gd name="adj" fmla="val 17143"/>
            </a:avLst>
          </a:prstGeom>
          <a:solidFill>
            <a:srgbClr val="6BAE72"/>
          </a:solidFill>
          <a:ln w="12700">
            <a:solidFill>
              <a:srgbClr val="6BAE72"/>
            </a:solidFill>
            <a:prstDash val="solid"/>
          </a:ln>
        </p:spPr>
      </p:sp>
      <p:sp>
        <p:nvSpPr>
          <p:cNvPr id="13" name="Text 11"/>
          <p:cNvSpPr/>
          <p:nvPr/>
        </p:nvSpPr>
        <p:spPr>
          <a:xfrm>
            <a:off x="411480" y="2331720"/>
            <a:ext cx="1005840" cy="320040"/>
          </a:xfrm>
          <a:prstGeom prst="rect">
            <a:avLst/>
          </a:prstGeom>
          <a:noFill/>
          <a:ln/>
        </p:spPr>
        <p:txBody>
          <a:bodyPr wrap="square" lIns="0" tIns="0" rIns="0" bIns="0" rtlCol="0" anchor="ctr"/>
          <a:lstStyle/>
          <a:p>
            <a:pPr algn="ctr" indent="0" marL="0">
              <a:buNone/>
            </a:pPr>
            <a:r>
              <a:rPr lang="en-US" sz="1000" b="1" dirty="0">
                <a:solidFill>
                  <a:srgbClr val="FFFFFF"/>
                </a:solidFill>
              </a:rPr>
              <a:t>ADR-0002</a:t>
            </a:r>
            <a:endParaRPr lang="en-US" sz="1000" dirty="0"/>
          </a:p>
        </p:txBody>
      </p:sp>
      <p:sp>
        <p:nvSpPr>
          <p:cNvPr id="14" name="Text 12"/>
          <p:cNvSpPr/>
          <p:nvPr/>
        </p:nvSpPr>
        <p:spPr>
          <a:xfrm>
            <a:off x="1508760" y="2313432"/>
            <a:ext cx="3749040" cy="301752"/>
          </a:xfrm>
          <a:prstGeom prst="rect">
            <a:avLst/>
          </a:prstGeom>
          <a:noFill/>
          <a:ln/>
        </p:spPr>
        <p:txBody>
          <a:bodyPr wrap="square" lIns="0" tIns="0" rIns="0" bIns="0" rtlCol="0" anchor="ctr"/>
          <a:lstStyle/>
          <a:p>
            <a:pPr indent="0" marL="0">
              <a:buNone/>
            </a:pPr>
            <a:r>
              <a:rPr lang="en-US" sz="1300" b="1" dirty="0">
                <a:solidFill>
                  <a:srgbClr val="2E5233"/>
                </a:solidFill>
                <a:latin typeface="Arial" pitchFamily="34" charset="0"/>
                <a:ea typeface="Arial" pitchFamily="34" charset="-122"/>
                <a:cs typeface="Arial" pitchFamily="34" charset="-120"/>
              </a:rPr>
              <a:t>Zustand 상태관리 선택</a:t>
            </a:r>
            <a:endParaRPr lang="en-US" sz="1300" dirty="0"/>
          </a:p>
        </p:txBody>
      </p:sp>
      <p:sp>
        <p:nvSpPr>
          <p:cNvPr id="15" name="Text 13"/>
          <p:cNvSpPr/>
          <p:nvPr/>
        </p:nvSpPr>
        <p:spPr>
          <a:xfrm>
            <a:off x="457200" y="2697480"/>
            <a:ext cx="4754880" cy="246888"/>
          </a:xfrm>
          <a:prstGeom prst="rect">
            <a:avLst/>
          </a:prstGeom>
          <a:noFill/>
          <a:ln/>
        </p:spPr>
        <p:txBody>
          <a:bodyPr wrap="square" lIns="0" tIns="0" rIns="0" bIns="0" rtlCol="0" anchor="ctr"/>
          <a:lstStyle/>
          <a:p>
            <a:pPr indent="0" marL="0">
              <a:buNone/>
            </a:pPr>
            <a:r>
              <a:rPr lang="en-US" sz="1100" b="1" dirty="0">
                <a:solidFill>
                  <a:srgbClr val="4A9055"/>
                </a:solidFill>
                <a:latin typeface="Arial" pitchFamily="34" charset="0"/>
                <a:ea typeface="Arial" pitchFamily="34" charset="-122"/>
                <a:cs typeface="Arial" pitchFamily="34" charset="-120"/>
              </a:rPr>
              <a:t>결정: Zustand (vs Redux, Context API)</a:t>
            </a:r>
            <a:endParaRPr lang="en-US" sz="1100" dirty="0"/>
          </a:p>
        </p:txBody>
      </p:sp>
      <p:sp>
        <p:nvSpPr>
          <p:cNvPr id="16" name="Text 14"/>
          <p:cNvSpPr/>
          <p:nvPr/>
        </p:nvSpPr>
        <p:spPr>
          <a:xfrm>
            <a:off x="457200" y="2944368"/>
            <a:ext cx="4754880" cy="246888"/>
          </a:xfrm>
          <a:prstGeom prst="rect">
            <a:avLst/>
          </a:prstGeom>
          <a:noFill/>
          <a:ln/>
        </p:spPr>
        <p:txBody>
          <a:bodyPr wrap="square" lIns="0" tIns="0" rIns="0" bIns="0" rtlCol="0" anchor="ctr"/>
          <a:lstStyle/>
          <a:p>
            <a:pPr indent="0" marL="0">
              <a:buNone/>
            </a:pPr>
            <a:r>
              <a:rPr lang="en-US" sz="1000" dirty="0">
                <a:solidFill>
                  <a:srgbClr val="5A7A5E"/>
                </a:solidFill>
                <a:latin typeface="Arial" pitchFamily="34" charset="0"/>
                <a:ea typeface="Arial" pitchFamily="34" charset="-122"/>
                <a:cs typeface="Arial" pitchFamily="34" charset="-120"/>
              </a:rPr>
              <a:t>이유: 보일러플레이트 없음, 학습 곡선 낮음, TypeScript 지원</a:t>
            </a:r>
            <a:endParaRPr lang="en-US" sz="1000" dirty="0"/>
          </a:p>
        </p:txBody>
      </p:sp>
      <p:sp>
        <p:nvSpPr>
          <p:cNvPr id="17" name="Shape 15"/>
          <p:cNvSpPr/>
          <p:nvPr/>
        </p:nvSpPr>
        <p:spPr>
          <a:xfrm>
            <a:off x="320040" y="3429000"/>
            <a:ext cx="5029200" cy="1078992"/>
          </a:xfrm>
          <a:prstGeom prst="roundRect">
            <a:avLst>
              <a:gd name="adj" fmla="val 8475"/>
            </a:avLst>
          </a:prstGeom>
          <a:solidFill>
            <a:srgbClr val="FFFFFF"/>
          </a:solidFill>
          <a:ln w="12700">
            <a:solidFill>
              <a:srgbClr val="C8E6C9"/>
            </a:solidFill>
            <a:prstDash val="solid"/>
          </a:ln>
          <a:effectLst>
            <a:outerShdw sx="100000" sy="100000" kx="0" ky="0" algn="bl" rotWithShape="0" blurRad="63500" dist="25400" dir="2700000">
              <a:srgbClr val="000000">
                <a:alpha val="12000"/>
              </a:srgbClr>
            </a:outerShdw>
          </a:effectLst>
        </p:spPr>
      </p:sp>
      <p:sp>
        <p:nvSpPr>
          <p:cNvPr id="18" name="Shape 16"/>
          <p:cNvSpPr/>
          <p:nvPr/>
        </p:nvSpPr>
        <p:spPr>
          <a:xfrm>
            <a:off x="411480" y="3520440"/>
            <a:ext cx="1005840" cy="320040"/>
          </a:xfrm>
          <a:prstGeom prst="roundRect">
            <a:avLst>
              <a:gd name="adj" fmla="val 17143"/>
            </a:avLst>
          </a:prstGeom>
          <a:solidFill>
            <a:srgbClr val="6BAE72"/>
          </a:solidFill>
          <a:ln w="12700">
            <a:solidFill>
              <a:srgbClr val="6BAE72"/>
            </a:solidFill>
            <a:prstDash val="solid"/>
          </a:ln>
        </p:spPr>
      </p:sp>
      <p:sp>
        <p:nvSpPr>
          <p:cNvPr id="19" name="Text 17"/>
          <p:cNvSpPr/>
          <p:nvPr/>
        </p:nvSpPr>
        <p:spPr>
          <a:xfrm>
            <a:off x="411480" y="3520440"/>
            <a:ext cx="1005840" cy="320040"/>
          </a:xfrm>
          <a:prstGeom prst="rect">
            <a:avLst/>
          </a:prstGeom>
          <a:noFill/>
          <a:ln/>
        </p:spPr>
        <p:txBody>
          <a:bodyPr wrap="square" lIns="0" tIns="0" rIns="0" bIns="0" rtlCol="0" anchor="ctr"/>
          <a:lstStyle/>
          <a:p>
            <a:pPr algn="ctr" indent="0" marL="0">
              <a:buNone/>
            </a:pPr>
            <a:r>
              <a:rPr lang="en-US" sz="1000" b="1" dirty="0">
                <a:solidFill>
                  <a:srgbClr val="FFFFFF"/>
                </a:solidFill>
              </a:rPr>
              <a:t>ADR-0003</a:t>
            </a:r>
            <a:endParaRPr lang="en-US" sz="1000" dirty="0"/>
          </a:p>
        </p:txBody>
      </p:sp>
      <p:sp>
        <p:nvSpPr>
          <p:cNvPr id="20" name="Text 18"/>
          <p:cNvSpPr/>
          <p:nvPr/>
        </p:nvSpPr>
        <p:spPr>
          <a:xfrm>
            <a:off x="1508760" y="3502152"/>
            <a:ext cx="3749040" cy="301752"/>
          </a:xfrm>
          <a:prstGeom prst="rect">
            <a:avLst/>
          </a:prstGeom>
          <a:noFill/>
          <a:ln/>
        </p:spPr>
        <p:txBody>
          <a:bodyPr wrap="square" lIns="0" tIns="0" rIns="0" bIns="0" rtlCol="0" anchor="ctr"/>
          <a:lstStyle/>
          <a:p>
            <a:pPr indent="0" marL="0">
              <a:buNone/>
            </a:pPr>
            <a:r>
              <a:rPr lang="en-US" sz="1300" b="1" dirty="0">
                <a:solidFill>
                  <a:srgbClr val="2E5233"/>
                </a:solidFill>
                <a:latin typeface="Arial" pitchFamily="34" charset="0"/>
                <a:ea typeface="Arial" pitchFamily="34" charset="-122"/>
                <a:cs typeface="Arial" pitchFamily="34" charset="-120"/>
              </a:rPr>
              <a:t>Firebase 백엔드 선택</a:t>
            </a:r>
            <a:endParaRPr lang="en-US" sz="1300" dirty="0"/>
          </a:p>
        </p:txBody>
      </p:sp>
      <p:sp>
        <p:nvSpPr>
          <p:cNvPr id="21" name="Text 19"/>
          <p:cNvSpPr/>
          <p:nvPr/>
        </p:nvSpPr>
        <p:spPr>
          <a:xfrm>
            <a:off x="457200" y="3886200"/>
            <a:ext cx="4754880" cy="246888"/>
          </a:xfrm>
          <a:prstGeom prst="rect">
            <a:avLst/>
          </a:prstGeom>
          <a:noFill/>
          <a:ln/>
        </p:spPr>
        <p:txBody>
          <a:bodyPr wrap="square" lIns="0" tIns="0" rIns="0" bIns="0" rtlCol="0" anchor="ctr"/>
          <a:lstStyle/>
          <a:p>
            <a:pPr indent="0" marL="0">
              <a:buNone/>
            </a:pPr>
            <a:r>
              <a:rPr lang="en-US" sz="1100" b="1" dirty="0">
                <a:solidFill>
                  <a:srgbClr val="4A9055"/>
                </a:solidFill>
                <a:latin typeface="Arial" pitchFamily="34" charset="0"/>
                <a:ea typeface="Arial" pitchFamily="34" charset="-122"/>
                <a:cs typeface="Arial" pitchFamily="34" charset="-120"/>
              </a:rPr>
              <a:t>결정: Firebase Auth + Firestore</a:t>
            </a:r>
            <a:endParaRPr lang="en-US" sz="1100" dirty="0"/>
          </a:p>
        </p:txBody>
      </p:sp>
      <p:sp>
        <p:nvSpPr>
          <p:cNvPr id="22" name="Text 20"/>
          <p:cNvSpPr/>
          <p:nvPr/>
        </p:nvSpPr>
        <p:spPr>
          <a:xfrm>
            <a:off x="457200" y="4133088"/>
            <a:ext cx="4754880" cy="246888"/>
          </a:xfrm>
          <a:prstGeom prst="rect">
            <a:avLst/>
          </a:prstGeom>
          <a:noFill/>
          <a:ln/>
        </p:spPr>
        <p:txBody>
          <a:bodyPr wrap="square" lIns="0" tIns="0" rIns="0" bIns="0" rtlCol="0" anchor="ctr"/>
          <a:lstStyle/>
          <a:p>
            <a:pPr indent="0" marL="0">
              <a:buNone/>
            </a:pPr>
            <a:r>
              <a:rPr lang="en-US" sz="1000" dirty="0">
                <a:solidFill>
                  <a:srgbClr val="5A7A5E"/>
                </a:solidFill>
                <a:latin typeface="Arial" pitchFamily="34" charset="0"/>
                <a:ea typeface="Arial" pitchFamily="34" charset="-122"/>
                <a:cs typeface="Arial" pitchFamily="34" charset="-120"/>
              </a:rPr>
              <a:t>이유: Auth+DB 통합 제공, 무료 티어, 설정 간편</a:t>
            </a:r>
            <a:endParaRPr lang="en-US" sz="1000" dirty="0"/>
          </a:p>
        </p:txBody>
      </p:sp>
      <p:sp>
        <p:nvSpPr>
          <p:cNvPr id="23" name="Shape 21"/>
          <p:cNvSpPr/>
          <p:nvPr/>
        </p:nvSpPr>
        <p:spPr>
          <a:xfrm>
            <a:off x="5577840" y="1051560"/>
            <a:ext cx="3246120" cy="2286000"/>
          </a:xfrm>
          <a:prstGeom prst="roundRect">
            <a:avLst>
              <a:gd name="adj" fmla="val 4000"/>
            </a:avLst>
          </a:prstGeom>
          <a:solidFill>
            <a:srgbClr val="FFFFFF"/>
          </a:solidFill>
          <a:ln w="12700">
            <a:solidFill>
              <a:srgbClr val="C8E6C9"/>
            </a:solidFill>
            <a:prstDash val="solid"/>
          </a:ln>
          <a:effectLst>
            <a:outerShdw sx="100000" sy="100000" kx="0" ky="0" algn="bl" rotWithShape="0" blurRad="63500" dist="25400" dir="2700000">
              <a:srgbClr val="000000">
                <a:alpha val="12000"/>
              </a:srgbClr>
            </a:outerShdw>
          </a:effectLst>
        </p:spPr>
      </p:sp>
      <p:sp>
        <p:nvSpPr>
          <p:cNvPr id="24" name="Text 22"/>
          <p:cNvSpPr/>
          <p:nvPr/>
        </p:nvSpPr>
        <p:spPr>
          <a:xfrm>
            <a:off x="5715000" y="1143000"/>
            <a:ext cx="2926080" cy="347472"/>
          </a:xfrm>
          <a:prstGeom prst="rect">
            <a:avLst/>
          </a:prstGeom>
          <a:noFill/>
          <a:ln/>
        </p:spPr>
        <p:txBody>
          <a:bodyPr wrap="square" lIns="0" tIns="0" rIns="0" bIns="0" rtlCol="0" anchor="ctr"/>
          <a:lstStyle/>
          <a:p>
            <a:pPr indent="0" marL="0">
              <a:buNone/>
            </a:pPr>
            <a:r>
              <a:rPr lang="en-US" sz="1400" b="1" dirty="0">
                <a:solidFill>
                  <a:srgbClr val="2E5233"/>
                </a:solidFill>
                <a:latin typeface="Arial" pitchFamily="34" charset="0"/>
                <a:ea typeface="Arial" pitchFamily="34" charset="-122"/>
                <a:cs typeface="Arial" pitchFamily="34" charset="-120"/>
              </a:rPr>
              <a:t>✅ 코드 품질 관리</a:t>
            </a:r>
            <a:endParaRPr lang="en-US" sz="1400" dirty="0"/>
          </a:p>
        </p:txBody>
      </p:sp>
      <p:sp>
        <p:nvSpPr>
          <p:cNvPr id="25" name="Text 23"/>
          <p:cNvSpPr/>
          <p:nvPr/>
        </p:nvSpPr>
        <p:spPr>
          <a:xfrm>
            <a:off x="5715000" y="1554480"/>
            <a:ext cx="3017520" cy="301752"/>
          </a:xfrm>
          <a:prstGeom prst="rect">
            <a:avLst/>
          </a:prstGeom>
          <a:noFill/>
          <a:ln/>
        </p:spPr>
        <p:txBody>
          <a:bodyPr wrap="square" lIns="0" tIns="0" rIns="0" bIns="0" rtlCol="0" anchor="ctr"/>
          <a:lstStyle/>
          <a:p>
            <a:pPr indent="0" marL="0">
              <a:buNone/>
            </a:pPr>
            <a:r>
              <a:rPr lang="en-US" sz="1100" dirty="0">
                <a:solidFill>
                  <a:srgbClr val="1A2E1C"/>
                </a:solidFill>
                <a:latin typeface="Arial" pitchFamily="34" charset="0"/>
                <a:ea typeface="Arial" pitchFamily="34" charset="-122"/>
                <a:cs typeface="Arial" pitchFamily="34" charset="-120"/>
              </a:rPr>
              <a:t>• TypeScript 타입 엄격 적용</a:t>
            </a:r>
            <a:endParaRPr lang="en-US" sz="1100" dirty="0"/>
          </a:p>
        </p:txBody>
      </p:sp>
      <p:sp>
        <p:nvSpPr>
          <p:cNvPr id="26" name="Text 24"/>
          <p:cNvSpPr/>
          <p:nvPr/>
        </p:nvSpPr>
        <p:spPr>
          <a:xfrm>
            <a:off x="5715000" y="1892808"/>
            <a:ext cx="3017520" cy="301752"/>
          </a:xfrm>
          <a:prstGeom prst="rect">
            <a:avLst/>
          </a:prstGeom>
          <a:noFill/>
          <a:ln/>
        </p:spPr>
        <p:txBody>
          <a:bodyPr wrap="square" lIns="0" tIns="0" rIns="0" bIns="0" rtlCol="0" anchor="ctr"/>
          <a:lstStyle/>
          <a:p>
            <a:pPr indent="0" marL="0">
              <a:buNone/>
            </a:pPr>
            <a:r>
              <a:rPr lang="en-US" sz="1100" dirty="0">
                <a:solidFill>
                  <a:srgbClr val="1A2E1C"/>
                </a:solidFill>
                <a:latin typeface="Arial" pitchFamily="34" charset="0"/>
                <a:ea typeface="Arial" pitchFamily="34" charset="-122"/>
                <a:cs typeface="Arial" pitchFamily="34" charset="-120"/>
              </a:rPr>
              <a:t>• 레이어별 책임 분리 (클린 아키텍처)</a:t>
            </a:r>
            <a:endParaRPr lang="en-US" sz="1100" dirty="0"/>
          </a:p>
        </p:txBody>
      </p:sp>
      <p:sp>
        <p:nvSpPr>
          <p:cNvPr id="27" name="Text 25"/>
          <p:cNvSpPr/>
          <p:nvPr/>
        </p:nvSpPr>
        <p:spPr>
          <a:xfrm>
            <a:off x="5715000" y="2231136"/>
            <a:ext cx="3017520" cy="301752"/>
          </a:xfrm>
          <a:prstGeom prst="rect">
            <a:avLst/>
          </a:prstGeom>
          <a:noFill/>
          <a:ln/>
        </p:spPr>
        <p:txBody>
          <a:bodyPr wrap="square" lIns="0" tIns="0" rIns="0" bIns="0" rtlCol="0" anchor="ctr"/>
          <a:lstStyle/>
          <a:p>
            <a:pPr indent="0" marL="0">
              <a:buNone/>
            </a:pPr>
            <a:r>
              <a:rPr lang="en-US" sz="1100" dirty="0">
                <a:solidFill>
                  <a:srgbClr val="1A2E1C"/>
                </a:solidFill>
                <a:latin typeface="Arial" pitchFamily="34" charset="0"/>
                <a:ea typeface="Arial" pitchFamily="34" charset="-122"/>
                <a:cs typeface="Arial" pitchFamily="34" charset="-120"/>
              </a:rPr>
              <a:t>• 환경변수 분리 (.env 관리)</a:t>
            </a:r>
            <a:endParaRPr lang="en-US" sz="1100" dirty="0"/>
          </a:p>
        </p:txBody>
      </p:sp>
      <p:sp>
        <p:nvSpPr>
          <p:cNvPr id="28" name="Text 26"/>
          <p:cNvSpPr/>
          <p:nvPr/>
        </p:nvSpPr>
        <p:spPr>
          <a:xfrm>
            <a:off x="5715000" y="2569464"/>
            <a:ext cx="3017520" cy="301752"/>
          </a:xfrm>
          <a:prstGeom prst="rect">
            <a:avLst/>
          </a:prstGeom>
          <a:noFill/>
          <a:ln/>
        </p:spPr>
        <p:txBody>
          <a:bodyPr wrap="square" lIns="0" tIns="0" rIns="0" bIns="0" rtlCol="0" anchor="ctr"/>
          <a:lstStyle/>
          <a:p>
            <a:pPr indent="0" marL="0">
              <a:buNone/>
            </a:pPr>
            <a:r>
              <a:rPr lang="en-US" sz="1100" dirty="0">
                <a:solidFill>
                  <a:srgbClr val="1A2E1C"/>
                </a:solidFill>
                <a:latin typeface="Arial" pitchFamily="34" charset="0"/>
                <a:ea typeface="Arial" pitchFamily="34" charset="-122"/>
                <a:cs typeface="Arial" pitchFamily="34" charset="-120"/>
              </a:rPr>
              <a:t>• API 키 하드코딩 없음</a:t>
            </a:r>
            <a:endParaRPr lang="en-US" sz="1100" dirty="0"/>
          </a:p>
        </p:txBody>
      </p:sp>
      <p:sp>
        <p:nvSpPr>
          <p:cNvPr id="29" name="Text 27"/>
          <p:cNvSpPr/>
          <p:nvPr/>
        </p:nvSpPr>
        <p:spPr>
          <a:xfrm>
            <a:off x="5715000" y="2907792"/>
            <a:ext cx="3017520" cy="301752"/>
          </a:xfrm>
          <a:prstGeom prst="rect">
            <a:avLst/>
          </a:prstGeom>
          <a:noFill/>
          <a:ln/>
        </p:spPr>
        <p:txBody>
          <a:bodyPr wrap="square" lIns="0" tIns="0" rIns="0" bIns="0" rtlCol="0" anchor="ctr"/>
          <a:lstStyle/>
          <a:p>
            <a:pPr indent="0" marL="0">
              <a:buNone/>
            </a:pPr>
            <a:r>
              <a:rPr lang="en-US" sz="1100" dirty="0">
                <a:solidFill>
                  <a:srgbClr val="1A2E1C"/>
                </a:solidFill>
                <a:latin typeface="Arial" pitchFamily="34" charset="0"/>
                <a:ea typeface="Arial" pitchFamily="34" charset="-122"/>
                <a:cs typeface="Arial" pitchFamily="34" charset="-120"/>
              </a:rPr>
              <a:t>• git history 비밀 노출 없음</a:t>
            </a:r>
            <a:endParaRPr lang="en-US" sz="1100" dirty="0"/>
          </a:p>
        </p:txBody>
      </p:sp>
      <p:sp>
        <p:nvSpPr>
          <p:cNvPr id="30" name="Shape 28"/>
          <p:cNvSpPr/>
          <p:nvPr/>
        </p:nvSpPr>
        <p:spPr>
          <a:xfrm>
            <a:off x="5577840" y="3474720"/>
            <a:ext cx="3246120" cy="1234440"/>
          </a:xfrm>
          <a:prstGeom prst="roundRect">
            <a:avLst>
              <a:gd name="adj" fmla="val 7407"/>
            </a:avLst>
          </a:prstGeom>
          <a:solidFill>
            <a:srgbClr val="FFFFFF"/>
          </a:solidFill>
          <a:ln w="12700">
            <a:solidFill>
              <a:srgbClr val="C8E6C9"/>
            </a:solidFill>
            <a:prstDash val="solid"/>
          </a:ln>
          <a:effectLst>
            <a:outerShdw sx="100000" sy="100000" kx="0" ky="0" algn="bl" rotWithShape="0" blurRad="63500" dist="25400" dir="2700000">
              <a:srgbClr val="000000">
                <a:alpha val="12000"/>
              </a:srgbClr>
            </a:outerShdw>
          </a:effectLst>
        </p:spPr>
      </p:sp>
      <p:sp>
        <p:nvSpPr>
          <p:cNvPr id="31" name="Text 29"/>
          <p:cNvSpPr/>
          <p:nvPr/>
        </p:nvSpPr>
        <p:spPr>
          <a:xfrm>
            <a:off x="5715000" y="3566160"/>
            <a:ext cx="2926080" cy="320040"/>
          </a:xfrm>
          <a:prstGeom prst="rect">
            <a:avLst/>
          </a:prstGeom>
          <a:noFill/>
          <a:ln/>
        </p:spPr>
        <p:txBody>
          <a:bodyPr wrap="square" lIns="0" tIns="0" rIns="0" bIns="0" rtlCol="0" anchor="ctr"/>
          <a:lstStyle/>
          <a:p>
            <a:pPr indent="0" marL="0">
              <a:buNone/>
            </a:pPr>
            <a:r>
              <a:rPr lang="en-US" sz="1400" b="1" dirty="0">
                <a:solidFill>
                  <a:srgbClr val="2E5233"/>
                </a:solidFill>
                <a:latin typeface="Arial" pitchFamily="34" charset="0"/>
                <a:ea typeface="Arial" pitchFamily="34" charset="-122"/>
                <a:cs typeface="Arial" pitchFamily="34" charset="-120"/>
              </a:rPr>
              <a:t>🧪 테스트</a:t>
            </a:r>
            <a:endParaRPr lang="en-US" sz="1400" dirty="0"/>
          </a:p>
        </p:txBody>
      </p:sp>
      <p:sp>
        <p:nvSpPr>
          <p:cNvPr id="32" name="Text 30"/>
          <p:cNvSpPr/>
          <p:nvPr/>
        </p:nvSpPr>
        <p:spPr>
          <a:xfrm>
            <a:off x="5715000" y="3931920"/>
            <a:ext cx="3017520" cy="256032"/>
          </a:xfrm>
          <a:prstGeom prst="rect">
            <a:avLst/>
          </a:prstGeom>
          <a:noFill/>
          <a:ln/>
        </p:spPr>
        <p:txBody>
          <a:bodyPr wrap="square" lIns="0" tIns="0" rIns="0" bIns="0" rtlCol="0" anchor="ctr"/>
          <a:lstStyle/>
          <a:p>
            <a:pPr indent="0" marL="0">
              <a:buNone/>
            </a:pPr>
            <a:r>
              <a:rPr lang="en-US" sz="1100" dirty="0">
                <a:solidFill>
                  <a:srgbClr val="1A2E1C"/>
                </a:solidFill>
                <a:latin typeface="Arial" pitchFamily="34" charset="0"/>
                <a:ea typeface="Arial" pitchFamily="34" charset="-122"/>
                <a:cs typeface="Arial" pitchFamily="34" charset="-120"/>
              </a:rPr>
              <a:t>• 단위: 7개 핵심 시나리오 수동 검증</a:t>
            </a:r>
            <a:endParaRPr lang="en-US" sz="1100" dirty="0"/>
          </a:p>
        </p:txBody>
      </p:sp>
      <p:sp>
        <p:nvSpPr>
          <p:cNvPr id="33" name="Text 31"/>
          <p:cNvSpPr/>
          <p:nvPr/>
        </p:nvSpPr>
        <p:spPr>
          <a:xfrm>
            <a:off x="5715000" y="4224528"/>
            <a:ext cx="3017520" cy="256032"/>
          </a:xfrm>
          <a:prstGeom prst="rect">
            <a:avLst/>
          </a:prstGeom>
          <a:noFill/>
          <a:ln/>
        </p:spPr>
        <p:txBody>
          <a:bodyPr wrap="square" lIns="0" tIns="0" rIns="0" bIns="0" rtlCol="0" anchor="ctr"/>
          <a:lstStyle/>
          <a:p>
            <a:pPr indent="0" marL="0">
              <a:buNone/>
            </a:pPr>
            <a:r>
              <a:rPr lang="en-US" sz="1100" dirty="0">
                <a:solidFill>
                  <a:srgbClr val="1A2E1C"/>
                </a:solidFill>
                <a:latin typeface="Arial" pitchFamily="34" charset="0"/>
                <a:ea typeface="Arial" pitchFamily="34" charset="-122"/>
                <a:cs typeface="Arial" pitchFamily="34" charset="-120"/>
              </a:rPr>
              <a:t>• 통합: Claude API 응답 → 저장 → 표시</a:t>
            </a:r>
            <a:endParaRPr lang="en-US" sz="1100" dirty="0"/>
          </a:p>
        </p:txBody>
      </p:sp>
      <p:sp>
        <p:nvSpPr>
          <p:cNvPr id="34" name="Text 32"/>
          <p:cNvSpPr/>
          <p:nvPr/>
        </p:nvSpPr>
        <p:spPr>
          <a:xfrm>
            <a:off x="5715000" y="4517136"/>
            <a:ext cx="3017520" cy="256032"/>
          </a:xfrm>
          <a:prstGeom prst="rect">
            <a:avLst/>
          </a:prstGeom>
          <a:noFill/>
          <a:ln/>
        </p:spPr>
        <p:txBody>
          <a:bodyPr wrap="square" lIns="0" tIns="0" rIns="0" bIns="0" rtlCol="0" anchor="ctr"/>
          <a:lstStyle/>
          <a:p>
            <a:pPr indent="0" marL="0">
              <a:buNone/>
            </a:pPr>
            <a:r>
              <a:rPr lang="en-US" sz="1100" dirty="0">
                <a:solidFill>
                  <a:srgbClr val="1A2E1C"/>
                </a:solidFill>
                <a:latin typeface="Arial" pitchFamily="34" charset="0"/>
                <a:ea typeface="Arial" pitchFamily="34" charset="-122"/>
                <a:cs typeface="Arial" pitchFamily="34" charset="-120"/>
              </a:rPr>
              <a:t>• 엣지케이스: 빈 입력·네트워크 오류</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8F1"/>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2E5233"/>
          </a:solidFill>
          <a:ln w="12700">
            <a:solidFill>
              <a:srgbClr val="2E5233"/>
            </a:solidFill>
            <a:prstDash val="solid"/>
          </a:ln>
        </p:spPr>
      </p:sp>
      <p:sp>
        <p:nvSpPr>
          <p:cNvPr id="3" name="Text 1"/>
          <p:cNvSpPr/>
          <p:nvPr/>
        </p:nvSpPr>
        <p:spPr>
          <a:xfrm>
            <a:off x="365760" y="45720"/>
            <a:ext cx="7772400" cy="50292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활용 방안 &amp; 향후 발전 방향</a:t>
            </a:r>
            <a:endParaRPr lang="en-US" sz="2400" dirty="0"/>
          </a:p>
        </p:txBody>
      </p:sp>
      <p:sp>
        <p:nvSpPr>
          <p:cNvPr id="4" name="Text 2"/>
          <p:cNvSpPr/>
          <p:nvPr/>
        </p:nvSpPr>
        <p:spPr>
          <a:xfrm>
            <a:off x="365760" y="548640"/>
            <a:ext cx="8229600" cy="320040"/>
          </a:xfrm>
          <a:prstGeom prst="rect">
            <a:avLst/>
          </a:prstGeom>
          <a:noFill/>
          <a:ln/>
        </p:spPr>
        <p:txBody>
          <a:bodyPr wrap="square" lIns="0" tIns="0" rIns="0" bIns="0" rtlCol="0" anchor="ctr"/>
          <a:lstStyle/>
          <a:p>
            <a:pPr indent="0" marL="0">
              <a:buNone/>
            </a:pPr>
            <a:r>
              <a:rPr lang="en-US" sz="1200" dirty="0">
                <a:solidFill>
                  <a:srgbClr val="DDF0E1"/>
                </a:solidFill>
                <a:latin typeface="Arial" pitchFamily="34" charset="0"/>
                <a:ea typeface="Arial" pitchFamily="34" charset="-122"/>
                <a:cs typeface="Arial" pitchFamily="34" charset="-120"/>
              </a:rPr>
              <a:t>기술 습득 의지 + 성능 최적화</a:t>
            </a:r>
            <a:endParaRPr lang="en-US" sz="1200" dirty="0"/>
          </a:p>
        </p:txBody>
      </p:sp>
      <p:sp>
        <p:nvSpPr>
          <p:cNvPr id="5" name="Shape 3"/>
          <p:cNvSpPr/>
          <p:nvPr/>
        </p:nvSpPr>
        <p:spPr>
          <a:xfrm>
            <a:off x="365760" y="1051560"/>
            <a:ext cx="4160520" cy="1554480"/>
          </a:xfrm>
          <a:prstGeom prst="roundRect">
            <a:avLst>
              <a:gd name="adj" fmla="val 5882"/>
            </a:avLst>
          </a:prstGeom>
          <a:solidFill>
            <a:srgbClr val="FFFFFF"/>
          </a:solidFill>
          <a:ln w="12700">
            <a:solidFill>
              <a:srgbClr val="C8E6C9"/>
            </a:solidFill>
            <a:prstDash val="solid"/>
          </a:ln>
          <a:effectLst>
            <a:outerShdw sx="100000" sy="100000" kx="0" ky="0" algn="bl" rotWithShape="0" blurRad="63500" dist="25400" dir="2700000">
              <a:srgbClr val="000000">
                <a:alpha val="12000"/>
              </a:srgbClr>
            </a:outerShdw>
          </a:effectLst>
        </p:spPr>
      </p:sp>
      <p:sp>
        <p:nvSpPr>
          <p:cNvPr id="6" name="Text 4"/>
          <p:cNvSpPr/>
          <p:nvPr/>
        </p:nvSpPr>
        <p:spPr>
          <a:xfrm>
            <a:off x="548640" y="1188720"/>
            <a:ext cx="3749040" cy="411480"/>
          </a:xfrm>
          <a:prstGeom prst="rect">
            <a:avLst/>
          </a:prstGeom>
          <a:noFill/>
          <a:ln/>
        </p:spPr>
        <p:txBody>
          <a:bodyPr wrap="square" lIns="0" tIns="0" rIns="0" bIns="0" rtlCol="0" anchor="ctr"/>
          <a:lstStyle/>
          <a:p>
            <a:pPr indent="0" marL="0">
              <a:buNone/>
            </a:pPr>
            <a:r>
              <a:rPr lang="en-US" sz="1500" b="1" dirty="0">
                <a:solidFill>
                  <a:srgbClr val="2E5233"/>
                </a:solidFill>
                <a:latin typeface="Arial" pitchFamily="34" charset="0"/>
                <a:ea typeface="Arial" pitchFamily="34" charset="-122"/>
                <a:cs typeface="Arial" pitchFamily="34" charset="-120"/>
              </a:rPr>
              <a:t>🧠  개인 감정 관리</a:t>
            </a:r>
            <a:endParaRPr lang="en-US" sz="1500" dirty="0"/>
          </a:p>
        </p:txBody>
      </p:sp>
      <p:sp>
        <p:nvSpPr>
          <p:cNvPr id="7" name="Text 5"/>
          <p:cNvSpPr/>
          <p:nvPr/>
        </p:nvSpPr>
        <p:spPr>
          <a:xfrm>
            <a:off x="548640" y="1645920"/>
            <a:ext cx="3749040" cy="640080"/>
          </a:xfrm>
          <a:prstGeom prst="rect">
            <a:avLst/>
          </a:prstGeom>
          <a:noFill/>
          <a:ln/>
        </p:spPr>
        <p:txBody>
          <a:bodyPr wrap="square" rtlCol="0" anchor="ctr"/>
          <a:lstStyle/>
          <a:p>
            <a:pPr indent="0" marL="0">
              <a:buNone/>
            </a:pPr>
            <a:r>
              <a:rPr lang="en-US" sz="1300" dirty="0">
                <a:solidFill>
                  <a:srgbClr val="5A7A5E"/>
                </a:solidFill>
                <a:latin typeface="Arial" pitchFamily="34" charset="0"/>
                <a:ea typeface="Arial" pitchFamily="34" charset="-122"/>
                <a:cs typeface="Arial" pitchFamily="34" charset="-120"/>
              </a:rPr>
              <a:t>매일 쌓이는 일기로 나만의 감정 패턴 파악</a:t>
            </a:r>
            <a:endParaRPr lang="en-US" sz="1300" dirty="0"/>
          </a:p>
        </p:txBody>
      </p:sp>
      <p:sp>
        <p:nvSpPr>
          <p:cNvPr id="8" name="Shape 6"/>
          <p:cNvSpPr/>
          <p:nvPr/>
        </p:nvSpPr>
        <p:spPr>
          <a:xfrm>
            <a:off x="4800600" y="1051560"/>
            <a:ext cx="4160520" cy="1554480"/>
          </a:xfrm>
          <a:prstGeom prst="roundRect">
            <a:avLst>
              <a:gd name="adj" fmla="val 5882"/>
            </a:avLst>
          </a:prstGeom>
          <a:solidFill>
            <a:srgbClr val="FFFFFF"/>
          </a:solidFill>
          <a:ln w="12700">
            <a:solidFill>
              <a:srgbClr val="C8E6C9"/>
            </a:solidFill>
            <a:prstDash val="solid"/>
          </a:ln>
          <a:effectLst>
            <a:outerShdw sx="100000" sy="100000" kx="0" ky="0" algn="bl" rotWithShape="0" blurRad="63500" dist="25400" dir="2700000">
              <a:srgbClr val="000000">
                <a:alpha val="12000"/>
              </a:srgbClr>
            </a:outerShdw>
          </a:effectLst>
        </p:spPr>
      </p:sp>
      <p:sp>
        <p:nvSpPr>
          <p:cNvPr id="9" name="Text 7"/>
          <p:cNvSpPr/>
          <p:nvPr/>
        </p:nvSpPr>
        <p:spPr>
          <a:xfrm>
            <a:off x="4983480" y="1188720"/>
            <a:ext cx="3749040" cy="411480"/>
          </a:xfrm>
          <a:prstGeom prst="rect">
            <a:avLst/>
          </a:prstGeom>
          <a:noFill/>
          <a:ln/>
        </p:spPr>
        <p:txBody>
          <a:bodyPr wrap="square" lIns="0" tIns="0" rIns="0" bIns="0" rtlCol="0" anchor="ctr"/>
          <a:lstStyle/>
          <a:p>
            <a:pPr indent="0" marL="0">
              <a:buNone/>
            </a:pPr>
            <a:r>
              <a:rPr lang="en-US" sz="1500" b="1" dirty="0">
                <a:solidFill>
                  <a:srgbClr val="2E5233"/>
                </a:solidFill>
                <a:latin typeface="Arial" pitchFamily="34" charset="0"/>
                <a:ea typeface="Arial" pitchFamily="34" charset="-122"/>
                <a:cs typeface="Arial" pitchFamily="34" charset="-120"/>
              </a:rPr>
              <a:t>📈  감정 통계 시각화</a:t>
            </a:r>
            <a:endParaRPr lang="en-US" sz="1500" dirty="0"/>
          </a:p>
        </p:txBody>
      </p:sp>
      <p:sp>
        <p:nvSpPr>
          <p:cNvPr id="10" name="Text 8"/>
          <p:cNvSpPr/>
          <p:nvPr/>
        </p:nvSpPr>
        <p:spPr>
          <a:xfrm>
            <a:off x="4983480" y="1645920"/>
            <a:ext cx="3749040" cy="640080"/>
          </a:xfrm>
          <a:prstGeom prst="rect">
            <a:avLst/>
          </a:prstGeom>
          <a:noFill/>
          <a:ln/>
        </p:spPr>
        <p:txBody>
          <a:bodyPr wrap="square" rtlCol="0" anchor="ctr"/>
          <a:lstStyle/>
          <a:p>
            <a:pPr indent="0" marL="0">
              <a:buNone/>
            </a:pPr>
            <a:r>
              <a:rPr lang="en-US" sz="1300" dirty="0">
                <a:solidFill>
                  <a:srgbClr val="5A7A5E"/>
                </a:solidFill>
                <a:latin typeface="Arial" pitchFamily="34" charset="0"/>
                <a:ea typeface="Arial" pitchFamily="34" charset="-122"/>
                <a:cs typeface="Arial" pitchFamily="34" charset="-120"/>
              </a:rPr>
              <a:t>주간/월간 감정 변화 차트 (향후 추가 예정)</a:t>
            </a:r>
            <a:endParaRPr lang="en-US" sz="1300" dirty="0"/>
          </a:p>
        </p:txBody>
      </p:sp>
      <p:sp>
        <p:nvSpPr>
          <p:cNvPr id="11" name="Shape 9"/>
          <p:cNvSpPr/>
          <p:nvPr/>
        </p:nvSpPr>
        <p:spPr>
          <a:xfrm>
            <a:off x="365760" y="2880360"/>
            <a:ext cx="4160520" cy="1554480"/>
          </a:xfrm>
          <a:prstGeom prst="roundRect">
            <a:avLst>
              <a:gd name="adj" fmla="val 5882"/>
            </a:avLst>
          </a:prstGeom>
          <a:solidFill>
            <a:srgbClr val="DDF0E1"/>
          </a:solidFill>
          <a:ln w="12700">
            <a:solidFill>
              <a:srgbClr val="C8E6C9"/>
            </a:solidFill>
            <a:prstDash val="solid"/>
          </a:ln>
          <a:effectLst>
            <a:outerShdw sx="100000" sy="100000" kx="0" ky="0" algn="bl" rotWithShape="0" blurRad="63500" dist="25400" dir="2700000">
              <a:srgbClr val="000000">
                <a:alpha val="12000"/>
              </a:srgbClr>
            </a:outerShdw>
          </a:effectLst>
        </p:spPr>
      </p:sp>
      <p:sp>
        <p:nvSpPr>
          <p:cNvPr id="12" name="Text 10"/>
          <p:cNvSpPr/>
          <p:nvPr/>
        </p:nvSpPr>
        <p:spPr>
          <a:xfrm>
            <a:off x="548640" y="3017520"/>
            <a:ext cx="3749040" cy="411480"/>
          </a:xfrm>
          <a:prstGeom prst="rect">
            <a:avLst/>
          </a:prstGeom>
          <a:noFill/>
          <a:ln/>
        </p:spPr>
        <p:txBody>
          <a:bodyPr wrap="square" lIns="0" tIns="0" rIns="0" bIns="0" rtlCol="0" anchor="ctr"/>
          <a:lstStyle/>
          <a:p>
            <a:pPr indent="0" marL="0">
              <a:buNone/>
            </a:pPr>
            <a:r>
              <a:rPr lang="en-US" sz="1500" b="1" dirty="0">
                <a:solidFill>
                  <a:srgbClr val="2E5233"/>
                </a:solidFill>
                <a:latin typeface="Arial" pitchFamily="34" charset="0"/>
                <a:ea typeface="Arial" pitchFamily="34" charset="-122"/>
                <a:cs typeface="Arial" pitchFamily="34" charset="-120"/>
              </a:rPr>
              <a:t>🤝  상담 보조 도구</a:t>
            </a:r>
            <a:endParaRPr lang="en-US" sz="1500" dirty="0"/>
          </a:p>
        </p:txBody>
      </p:sp>
      <p:sp>
        <p:nvSpPr>
          <p:cNvPr id="13" name="Text 11"/>
          <p:cNvSpPr/>
          <p:nvPr/>
        </p:nvSpPr>
        <p:spPr>
          <a:xfrm>
            <a:off x="548640" y="3474720"/>
            <a:ext cx="3749040" cy="640080"/>
          </a:xfrm>
          <a:prstGeom prst="rect">
            <a:avLst/>
          </a:prstGeom>
          <a:noFill/>
          <a:ln/>
        </p:spPr>
        <p:txBody>
          <a:bodyPr wrap="square" rtlCol="0" anchor="ctr"/>
          <a:lstStyle/>
          <a:p>
            <a:pPr indent="0" marL="0">
              <a:buNone/>
            </a:pPr>
            <a:r>
              <a:rPr lang="en-US" sz="1300" dirty="0">
                <a:solidFill>
                  <a:srgbClr val="5A7A5E"/>
                </a:solidFill>
                <a:latin typeface="Arial" pitchFamily="34" charset="0"/>
                <a:ea typeface="Arial" pitchFamily="34" charset="-122"/>
                <a:cs typeface="Arial" pitchFamily="34" charset="-120"/>
              </a:rPr>
              <a:t>상담사와 공유할 수 있는 감정 기록 레포트</a:t>
            </a:r>
            <a:endParaRPr lang="en-US" sz="1300" dirty="0"/>
          </a:p>
        </p:txBody>
      </p:sp>
      <p:sp>
        <p:nvSpPr>
          <p:cNvPr id="14" name="Shape 12"/>
          <p:cNvSpPr/>
          <p:nvPr/>
        </p:nvSpPr>
        <p:spPr>
          <a:xfrm>
            <a:off x="4800600" y="2880360"/>
            <a:ext cx="4160520" cy="1554480"/>
          </a:xfrm>
          <a:prstGeom prst="roundRect">
            <a:avLst>
              <a:gd name="adj" fmla="val 5882"/>
            </a:avLst>
          </a:prstGeom>
          <a:solidFill>
            <a:srgbClr val="DDF0E1"/>
          </a:solidFill>
          <a:ln w="12700">
            <a:solidFill>
              <a:srgbClr val="C8E6C9"/>
            </a:solidFill>
            <a:prstDash val="solid"/>
          </a:ln>
          <a:effectLst>
            <a:outerShdw sx="100000" sy="100000" kx="0" ky="0" algn="bl" rotWithShape="0" blurRad="63500" dist="25400" dir="2700000">
              <a:srgbClr val="000000">
                <a:alpha val="12000"/>
              </a:srgbClr>
            </a:outerShdw>
          </a:effectLst>
        </p:spPr>
      </p:sp>
      <p:sp>
        <p:nvSpPr>
          <p:cNvPr id="15" name="Text 13"/>
          <p:cNvSpPr/>
          <p:nvPr/>
        </p:nvSpPr>
        <p:spPr>
          <a:xfrm>
            <a:off x="4983480" y="3017520"/>
            <a:ext cx="3749040" cy="411480"/>
          </a:xfrm>
          <a:prstGeom prst="rect">
            <a:avLst/>
          </a:prstGeom>
          <a:noFill/>
          <a:ln/>
        </p:spPr>
        <p:txBody>
          <a:bodyPr wrap="square" lIns="0" tIns="0" rIns="0" bIns="0" rtlCol="0" anchor="ctr"/>
          <a:lstStyle/>
          <a:p>
            <a:pPr indent="0" marL="0">
              <a:buNone/>
            </a:pPr>
            <a:r>
              <a:rPr lang="en-US" sz="1500" b="1" dirty="0">
                <a:solidFill>
                  <a:srgbClr val="2E5233"/>
                </a:solidFill>
                <a:latin typeface="Arial" pitchFamily="34" charset="0"/>
                <a:ea typeface="Arial" pitchFamily="34" charset="-122"/>
                <a:cs typeface="Arial" pitchFamily="34" charset="-120"/>
              </a:rPr>
              <a:t>🔔  감정 알림</a:t>
            </a:r>
            <a:endParaRPr lang="en-US" sz="1500" dirty="0"/>
          </a:p>
        </p:txBody>
      </p:sp>
      <p:sp>
        <p:nvSpPr>
          <p:cNvPr id="16" name="Text 14"/>
          <p:cNvSpPr/>
          <p:nvPr/>
        </p:nvSpPr>
        <p:spPr>
          <a:xfrm>
            <a:off x="4983480" y="3474720"/>
            <a:ext cx="3749040" cy="640080"/>
          </a:xfrm>
          <a:prstGeom prst="rect">
            <a:avLst/>
          </a:prstGeom>
          <a:noFill/>
          <a:ln/>
        </p:spPr>
        <p:txBody>
          <a:bodyPr wrap="square" rtlCol="0" anchor="ctr"/>
          <a:lstStyle/>
          <a:p>
            <a:pPr indent="0" marL="0">
              <a:buNone/>
            </a:pPr>
            <a:r>
              <a:rPr lang="en-US" sz="1300" dirty="0">
                <a:solidFill>
                  <a:srgbClr val="5A7A5E"/>
                </a:solidFill>
                <a:latin typeface="Arial" pitchFamily="34" charset="0"/>
                <a:ea typeface="Arial" pitchFamily="34" charset="-122"/>
                <a:cs typeface="Arial" pitchFamily="34" charset="-120"/>
              </a:rPr>
              <a:t>부정적 감정이 연속될 때 알림 (향후)</a:t>
            </a:r>
            <a:endParaRPr lang="en-US" sz="1300" dirty="0"/>
          </a:p>
        </p:txBody>
      </p:sp>
      <p:sp>
        <p:nvSpPr>
          <p:cNvPr id="17" name="Shape 15"/>
          <p:cNvSpPr/>
          <p:nvPr/>
        </p:nvSpPr>
        <p:spPr>
          <a:xfrm>
            <a:off x="365760" y="4709160"/>
            <a:ext cx="8412480" cy="320040"/>
          </a:xfrm>
          <a:prstGeom prst="roundRect">
            <a:avLst>
              <a:gd name="adj" fmla="val 28571"/>
            </a:avLst>
          </a:prstGeom>
          <a:solidFill>
            <a:srgbClr val="2E5233"/>
          </a:solidFill>
          <a:ln w="12700">
            <a:solidFill>
              <a:srgbClr val="C8E6C9"/>
            </a:solidFill>
            <a:prstDash val="solid"/>
          </a:ln>
          <a:effectLst>
            <a:outerShdw sx="100000" sy="100000" kx="0" ky="0" algn="bl" rotWithShape="0" blurRad="63500" dist="25400" dir="2700000">
              <a:srgbClr val="000000">
                <a:alpha val="12000"/>
              </a:srgbClr>
            </a:outerShdw>
          </a:effectLst>
        </p:spPr>
      </p:sp>
      <p:sp>
        <p:nvSpPr>
          <p:cNvPr id="18" name="Text 16"/>
          <p:cNvSpPr/>
          <p:nvPr/>
        </p:nvSpPr>
        <p:spPr>
          <a:xfrm>
            <a:off x="502920" y="4736592"/>
            <a:ext cx="8229600" cy="256032"/>
          </a:xfrm>
          <a:prstGeom prst="rect">
            <a:avLst/>
          </a:prstGeom>
          <a:noFill/>
          <a:ln/>
        </p:spPr>
        <p:txBody>
          <a:bodyPr wrap="square" lIns="0" tIns="0" rIns="0" bIns="0" rtlCol="0" anchor="ctr"/>
          <a:lstStyle/>
          <a:p>
            <a:pPr indent="0" marL="0">
              <a:buNone/>
            </a:pPr>
            <a:r>
              <a:rPr lang="en-US" sz="1000" dirty="0">
                <a:solidFill>
                  <a:srgbClr val="DDF0E1"/>
                </a:solidFill>
                <a:latin typeface="Arial" pitchFamily="34" charset="0"/>
                <a:ea typeface="Arial" pitchFamily="34" charset="-122"/>
                <a:cs typeface="Arial" pitchFamily="34" charset="-120"/>
              </a:rPr>
              <a:t>⚡ 성능 최적화: Zustand selector로 불필요한 리렌더 방지  ·  API 응답 로딩 상태 관리  ·  Firebase 쿼리 인덱스 최적화</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E5233"/>
        </a:solidFill>
      </p:bgPr>
    </p:bg>
    <p:spTree>
      <p:nvGrpSpPr>
        <p:cNvPr id="1" name=""/>
        <p:cNvGrpSpPr/>
        <p:nvPr/>
      </p:nvGrpSpPr>
      <p:grpSpPr>
        <a:xfrm>
          <a:off x="0" y="0"/>
          <a:ext cx="0" cy="0"/>
          <a:chOff x="0" y="0"/>
          <a:chExt cx="0" cy="0"/>
        </a:xfrm>
      </p:grpSpPr>
      <p:sp>
        <p:nvSpPr>
          <p:cNvPr id="2" name="Text 0"/>
          <p:cNvSpPr/>
          <p:nvPr/>
        </p:nvSpPr>
        <p:spPr>
          <a:xfrm>
            <a:off x="457200" y="548640"/>
            <a:ext cx="8229600" cy="822960"/>
          </a:xfrm>
          <a:prstGeom prst="rect">
            <a:avLst/>
          </a:prstGeom>
          <a:noFill/>
          <a:ln/>
        </p:spPr>
        <p:txBody>
          <a:bodyPr wrap="square" rtlCol="0" anchor="ctr"/>
          <a:lstStyle/>
          <a:p>
            <a:pPr algn="ctr" indent="0" marL="0">
              <a:buNone/>
            </a:pPr>
            <a:r>
              <a:rPr lang="en-US" sz="4200" b="1" dirty="0">
                <a:solidFill>
                  <a:srgbClr val="DDF0E1"/>
                </a:solidFill>
                <a:latin typeface="Cambria" pitchFamily="34" charset="0"/>
                <a:ea typeface="Cambria" pitchFamily="34" charset="-122"/>
                <a:cs typeface="Cambria" pitchFamily="34" charset="-120"/>
              </a:rPr>
              <a:t>📱 라이브 데모</a:t>
            </a:r>
            <a:endParaRPr lang="en-US" sz="4200" dirty="0"/>
          </a:p>
        </p:txBody>
      </p:sp>
      <p:sp>
        <p:nvSpPr>
          <p:cNvPr id="3" name="Shape 1"/>
          <p:cNvSpPr/>
          <p:nvPr/>
        </p:nvSpPr>
        <p:spPr>
          <a:xfrm>
            <a:off x="1188720" y="1554480"/>
            <a:ext cx="640080" cy="640080"/>
          </a:xfrm>
          <a:prstGeom prst="ellipse">
            <a:avLst/>
          </a:prstGeom>
          <a:solidFill>
            <a:srgbClr val="6BAE72"/>
          </a:solidFill>
          <a:ln w="12700">
            <a:solidFill>
              <a:srgbClr val="6BAE72"/>
            </a:solidFill>
            <a:prstDash val="solid"/>
          </a:ln>
        </p:spPr>
      </p:sp>
      <p:sp>
        <p:nvSpPr>
          <p:cNvPr id="4" name="Text 2"/>
          <p:cNvSpPr/>
          <p:nvPr/>
        </p:nvSpPr>
        <p:spPr>
          <a:xfrm>
            <a:off x="1188720" y="155448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rPr>
              <a:t>01</a:t>
            </a:r>
            <a:endParaRPr lang="en-US" sz="1800" dirty="0"/>
          </a:p>
        </p:txBody>
      </p:sp>
      <p:sp>
        <p:nvSpPr>
          <p:cNvPr id="5" name="Text 3"/>
          <p:cNvSpPr/>
          <p:nvPr/>
        </p:nvSpPr>
        <p:spPr>
          <a:xfrm>
            <a:off x="548640" y="2331720"/>
            <a:ext cx="1920240" cy="365760"/>
          </a:xfrm>
          <a:prstGeom prst="rect">
            <a:avLst/>
          </a:prstGeom>
          <a:noFill/>
          <a:ln/>
        </p:spPr>
        <p:txBody>
          <a:bodyPr wrap="square" rtlCol="0" anchor="ctr"/>
          <a:lstStyle/>
          <a:p>
            <a:pPr algn="ctr" indent="0" marL="0">
              <a:buNone/>
            </a:pPr>
            <a:r>
              <a:rPr lang="en-US" sz="1500" b="1" dirty="0">
                <a:solidFill>
                  <a:srgbClr val="DDF0E1"/>
                </a:solidFill>
              </a:rPr>
              <a:t>앱 실행</a:t>
            </a:r>
            <a:endParaRPr lang="en-US" sz="1500" dirty="0"/>
          </a:p>
        </p:txBody>
      </p:sp>
      <p:sp>
        <p:nvSpPr>
          <p:cNvPr id="6" name="Text 4"/>
          <p:cNvSpPr/>
          <p:nvPr/>
        </p:nvSpPr>
        <p:spPr>
          <a:xfrm>
            <a:off x="548640" y="2724912"/>
            <a:ext cx="1920240" cy="548640"/>
          </a:xfrm>
          <a:prstGeom prst="rect">
            <a:avLst/>
          </a:prstGeom>
          <a:noFill/>
          <a:ln/>
        </p:spPr>
        <p:txBody>
          <a:bodyPr wrap="square" rtlCol="0" anchor="ctr"/>
          <a:lstStyle/>
          <a:p>
            <a:pPr algn="ctr" indent="0" marL="0">
              <a:buNone/>
            </a:pPr>
            <a:r>
              <a:rPr lang="en-US" sz="1100" dirty="0">
                <a:solidFill>
                  <a:srgbClr val="A8D5B0"/>
                </a:solidFill>
              </a:rPr>
              <a:t>Expo Go QR 스캔</a:t>
            </a:r>
            <a:endParaRPr lang="en-US" sz="1100" dirty="0"/>
          </a:p>
        </p:txBody>
      </p:sp>
      <p:sp>
        <p:nvSpPr>
          <p:cNvPr id="7" name="Shape 5"/>
          <p:cNvSpPr/>
          <p:nvPr/>
        </p:nvSpPr>
        <p:spPr>
          <a:xfrm>
            <a:off x="2468880" y="1874520"/>
            <a:ext cx="274320" cy="0"/>
          </a:xfrm>
          <a:prstGeom prst="line">
            <a:avLst/>
          </a:prstGeom>
          <a:noFill/>
          <a:ln w="25400">
            <a:solidFill>
              <a:srgbClr val="6BAE72"/>
            </a:solidFill>
            <a:prstDash val="solid"/>
          </a:ln>
        </p:spPr>
      </p:sp>
      <p:sp>
        <p:nvSpPr>
          <p:cNvPr id="8" name="Shape 6"/>
          <p:cNvSpPr/>
          <p:nvPr/>
        </p:nvSpPr>
        <p:spPr>
          <a:xfrm>
            <a:off x="3246120" y="1554480"/>
            <a:ext cx="640080" cy="640080"/>
          </a:xfrm>
          <a:prstGeom prst="ellipse">
            <a:avLst/>
          </a:prstGeom>
          <a:solidFill>
            <a:srgbClr val="6BAE72"/>
          </a:solidFill>
          <a:ln w="12700">
            <a:solidFill>
              <a:srgbClr val="6BAE72"/>
            </a:solidFill>
            <a:prstDash val="solid"/>
          </a:ln>
        </p:spPr>
      </p:sp>
      <p:sp>
        <p:nvSpPr>
          <p:cNvPr id="9" name="Text 7"/>
          <p:cNvSpPr/>
          <p:nvPr/>
        </p:nvSpPr>
        <p:spPr>
          <a:xfrm>
            <a:off x="3246120" y="155448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rPr>
              <a:t>02</a:t>
            </a:r>
            <a:endParaRPr lang="en-US" sz="1800" dirty="0"/>
          </a:p>
        </p:txBody>
      </p:sp>
      <p:sp>
        <p:nvSpPr>
          <p:cNvPr id="10" name="Text 8"/>
          <p:cNvSpPr/>
          <p:nvPr/>
        </p:nvSpPr>
        <p:spPr>
          <a:xfrm>
            <a:off x="2606040" y="2331720"/>
            <a:ext cx="1920240" cy="365760"/>
          </a:xfrm>
          <a:prstGeom prst="rect">
            <a:avLst/>
          </a:prstGeom>
          <a:noFill/>
          <a:ln/>
        </p:spPr>
        <p:txBody>
          <a:bodyPr wrap="square" rtlCol="0" anchor="ctr"/>
          <a:lstStyle/>
          <a:p>
            <a:pPr algn="ctr" indent="0" marL="0">
              <a:buNone/>
            </a:pPr>
            <a:r>
              <a:rPr lang="en-US" sz="1500" b="1" dirty="0">
                <a:solidFill>
                  <a:srgbClr val="DDF0E1"/>
                </a:solidFill>
              </a:rPr>
              <a:t>일기 작성</a:t>
            </a:r>
            <a:endParaRPr lang="en-US" sz="1500" dirty="0"/>
          </a:p>
        </p:txBody>
      </p:sp>
      <p:sp>
        <p:nvSpPr>
          <p:cNvPr id="11" name="Text 9"/>
          <p:cNvSpPr/>
          <p:nvPr/>
        </p:nvSpPr>
        <p:spPr>
          <a:xfrm>
            <a:off x="2606040" y="2724912"/>
            <a:ext cx="1920240" cy="548640"/>
          </a:xfrm>
          <a:prstGeom prst="rect">
            <a:avLst/>
          </a:prstGeom>
          <a:noFill/>
          <a:ln/>
        </p:spPr>
        <p:txBody>
          <a:bodyPr wrap="square" rtlCol="0" anchor="ctr"/>
          <a:lstStyle/>
          <a:p>
            <a:pPr algn="ctr" indent="0" marL="0">
              <a:buNone/>
            </a:pPr>
            <a:r>
              <a:rPr lang="en-US" sz="1100" dirty="0">
                <a:solidFill>
                  <a:srgbClr val="A8D5B0"/>
                </a:solidFill>
              </a:rPr>
              <a:t>감정 텍스트 입력</a:t>
            </a:r>
            <a:endParaRPr lang="en-US" sz="1100" dirty="0"/>
          </a:p>
        </p:txBody>
      </p:sp>
      <p:sp>
        <p:nvSpPr>
          <p:cNvPr id="12" name="Shape 10"/>
          <p:cNvSpPr/>
          <p:nvPr/>
        </p:nvSpPr>
        <p:spPr>
          <a:xfrm>
            <a:off x="4526280" y="1874520"/>
            <a:ext cx="274320" cy="0"/>
          </a:xfrm>
          <a:prstGeom prst="line">
            <a:avLst/>
          </a:prstGeom>
          <a:noFill/>
          <a:ln w="25400">
            <a:solidFill>
              <a:srgbClr val="6BAE72"/>
            </a:solidFill>
            <a:prstDash val="solid"/>
          </a:ln>
        </p:spPr>
      </p:sp>
      <p:sp>
        <p:nvSpPr>
          <p:cNvPr id="13" name="Shape 11"/>
          <p:cNvSpPr/>
          <p:nvPr/>
        </p:nvSpPr>
        <p:spPr>
          <a:xfrm>
            <a:off x="5303520" y="1554480"/>
            <a:ext cx="640080" cy="640080"/>
          </a:xfrm>
          <a:prstGeom prst="ellipse">
            <a:avLst/>
          </a:prstGeom>
          <a:solidFill>
            <a:srgbClr val="6BAE72"/>
          </a:solidFill>
          <a:ln w="12700">
            <a:solidFill>
              <a:srgbClr val="6BAE72"/>
            </a:solidFill>
            <a:prstDash val="solid"/>
          </a:ln>
        </p:spPr>
      </p:sp>
      <p:sp>
        <p:nvSpPr>
          <p:cNvPr id="14" name="Text 12"/>
          <p:cNvSpPr/>
          <p:nvPr/>
        </p:nvSpPr>
        <p:spPr>
          <a:xfrm>
            <a:off x="5303520" y="155448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rPr>
              <a:t>03</a:t>
            </a:r>
            <a:endParaRPr lang="en-US" sz="1800" dirty="0"/>
          </a:p>
        </p:txBody>
      </p:sp>
      <p:sp>
        <p:nvSpPr>
          <p:cNvPr id="15" name="Text 13"/>
          <p:cNvSpPr/>
          <p:nvPr/>
        </p:nvSpPr>
        <p:spPr>
          <a:xfrm>
            <a:off x="4663440" y="2331720"/>
            <a:ext cx="1920240" cy="365760"/>
          </a:xfrm>
          <a:prstGeom prst="rect">
            <a:avLst/>
          </a:prstGeom>
          <a:noFill/>
          <a:ln/>
        </p:spPr>
        <p:txBody>
          <a:bodyPr wrap="square" rtlCol="0" anchor="ctr"/>
          <a:lstStyle/>
          <a:p>
            <a:pPr algn="ctr" indent="0" marL="0">
              <a:buNone/>
            </a:pPr>
            <a:r>
              <a:rPr lang="en-US" sz="1500" b="1" dirty="0">
                <a:solidFill>
                  <a:srgbClr val="DDF0E1"/>
                </a:solidFill>
              </a:rPr>
              <a:t>AI 분석</a:t>
            </a:r>
            <a:endParaRPr lang="en-US" sz="1500" dirty="0"/>
          </a:p>
        </p:txBody>
      </p:sp>
      <p:sp>
        <p:nvSpPr>
          <p:cNvPr id="16" name="Text 14"/>
          <p:cNvSpPr/>
          <p:nvPr/>
        </p:nvSpPr>
        <p:spPr>
          <a:xfrm>
            <a:off x="4663440" y="2724912"/>
            <a:ext cx="1920240" cy="548640"/>
          </a:xfrm>
          <a:prstGeom prst="rect">
            <a:avLst/>
          </a:prstGeom>
          <a:noFill/>
          <a:ln/>
        </p:spPr>
        <p:txBody>
          <a:bodyPr wrap="square" rtlCol="0" anchor="ctr"/>
          <a:lstStyle/>
          <a:p>
            <a:pPr algn="ctr" indent="0" marL="0">
              <a:buNone/>
            </a:pPr>
            <a:r>
              <a:rPr lang="en-US" sz="1100" dirty="0">
                <a:solidFill>
                  <a:srgbClr val="A8D5B0"/>
                </a:solidFill>
              </a:rPr>
              <a:t>Claude가 감정 레이블 + 위로 메시지 생성</a:t>
            </a:r>
            <a:endParaRPr lang="en-US" sz="1100" dirty="0"/>
          </a:p>
        </p:txBody>
      </p:sp>
      <p:sp>
        <p:nvSpPr>
          <p:cNvPr id="17" name="Shape 15"/>
          <p:cNvSpPr/>
          <p:nvPr/>
        </p:nvSpPr>
        <p:spPr>
          <a:xfrm>
            <a:off x="6583680" y="1874520"/>
            <a:ext cx="274320" cy="0"/>
          </a:xfrm>
          <a:prstGeom prst="line">
            <a:avLst/>
          </a:prstGeom>
          <a:noFill/>
          <a:ln w="25400">
            <a:solidFill>
              <a:srgbClr val="6BAE72"/>
            </a:solidFill>
            <a:prstDash val="solid"/>
          </a:ln>
        </p:spPr>
      </p:sp>
      <p:sp>
        <p:nvSpPr>
          <p:cNvPr id="18" name="Shape 16"/>
          <p:cNvSpPr/>
          <p:nvPr/>
        </p:nvSpPr>
        <p:spPr>
          <a:xfrm>
            <a:off x="7360920" y="1554480"/>
            <a:ext cx="640080" cy="640080"/>
          </a:xfrm>
          <a:prstGeom prst="ellipse">
            <a:avLst/>
          </a:prstGeom>
          <a:solidFill>
            <a:srgbClr val="6BAE72"/>
          </a:solidFill>
          <a:ln w="12700">
            <a:solidFill>
              <a:srgbClr val="6BAE72"/>
            </a:solidFill>
            <a:prstDash val="solid"/>
          </a:ln>
        </p:spPr>
      </p:sp>
      <p:sp>
        <p:nvSpPr>
          <p:cNvPr id="19" name="Text 17"/>
          <p:cNvSpPr/>
          <p:nvPr/>
        </p:nvSpPr>
        <p:spPr>
          <a:xfrm>
            <a:off x="7360920" y="155448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rPr>
              <a:t>04</a:t>
            </a:r>
            <a:endParaRPr lang="en-US" sz="1800" dirty="0"/>
          </a:p>
        </p:txBody>
      </p:sp>
      <p:sp>
        <p:nvSpPr>
          <p:cNvPr id="20" name="Text 18"/>
          <p:cNvSpPr/>
          <p:nvPr/>
        </p:nvSpPr>
        <p:spPr>
          <a:xfrm>
            <a:off x="6720840" y="2331720"/>
            <a:ext cx="1920240" cy="365760"/>
          </a:xfrm>
          <a:prstGeom prst="rect">
            <a:avLst/>
          </a:prstGeom>
          <a:noFill/>
          <a:ln/>
        </p:spPr>
        <p:txBody>
          <a:bodyPr wrap="square" rtlCol="0" anchor="ctr"/>
          <a:lstStyle/>
          <a:p>
            <a:pPr algn="ctr" indent="0" marL="0">
              <a:buNone/>
            </a:pPr>
            <a:r>
              <a:rPr lang="en-US" sz="1500" b="1" dirty="0">
                <a:solidFill>
                  <a:srgbClr val="DDF0E1"/>
                </a:solidFill>
              </a:rPr>
              <a:t>히스토리</a:t>
            </a:r>
            <a:endParaRPr lang="en-US" sz="1500" dirty="0"/>
          </a:p>
        </p:txBody>
      </p:sp>
      <p:sp>
        <p:nvSpPr>
          <p:cNvPr id="21" name="Text 19"/>
          <p:cNvSpPr/>
          <p:nvPr/>
        </p:nvSpPr>
        <p:spPr>
          <a:xfrm>
            <a:off x="6720840" y="2724912"/>
            <a:ext cx="1920240" cy="548640"/>
          </a:xfrm>
          <a:prstGeom prst="rect">
            <a:avLst/>
          </a:prstGeom>
          <a:noFill/>
          <a:ln/>
        </p:spPr>
        <p:txBody>
          <a:bodyPr wrap="square" rtlCol="0" anchor="ctr"/>
          <a:lstStyle/>
          <a:p>
            <a:pPr algn="ctr" indent="0" marL="0">
              <a:buNone/>
            </a:pPr>
            <a:r>
              <a:rPr lang="en-US" sz="1100" dirty="0">
                <a:solidFill>
                  <a:srgbClr val="A8D5B0"/>
                </a:solidFill>
              </a:rPr>
              <a:t>저장된 일기 목록 확인</a:t>
            </a:r>
            <a:endParaRPr lang="en-US" sz="1100" dirty="0"/>
          </a:p>
        </p:txBody>
      </p:sp>
      <p:sp>
        <p:nvSpPr>
          <p:cNvPr id="22" name="Text 20"/>
          <p:cNvSpPr/>
          <p:nvPr/>
        </p:nvSpPr>
        <p:spPr>
          <a:xfrm>
            <a:off x="1828800" y="3474720"/>
            <a:ext cx="5486400" cy="502920"/>
          </a:xfrm>
          <a:prstGeom prst="rect">
            <a:avLst/>
          </a:prstGeom>
          <a:noFill/>
          <a:ln/>
        </p:spPr>
        <p:txBody>
          <a:bodyPr wrap="square" rtlCol="0" anchor="ctr"/>
          <a:lstStyle/>
          <a:p>
            <a:pPr algn="ctr" indent="0" marL="0">
              <a:buNone/>
            </a:pPr>
            <a:r>
              <a:rPr lang="en-US" sz="1800" b="1" dirty="0">
                <a:solidFill>
                  <a:srgbClr val="FFD700"/>
                </a:solidFill>
              </a:rPr>
              <a:t>⏱ 30초 시연</a:t>
            </a:r>
            <a:endParaRPr lang="en-US" sz="1800" dirty="0"/>
          </a:p>
        </p:txBody>
      </p:sp>
      <p:sp>
        <p:nvSpPr>
          <p:cNvPr id="23" name="Text 21"/>
          <p:cNvSpPr/>
          <p:nvPr/>
        </p:nvSpPr>
        <p:spPr>
          <a:xfrm>
            <a:off x="1828800" y="4023360"/>
            <a:ext cx="5486400" cy="457200"/>
          </a:xfrm>
          <a:prstGeom prst="rect">
            <a:avLst/>
          </a:prstGeom>
          <a:noFill/>
          <a:ln/>
        </p:spPr>
        <p:txBody>
          <a:bodyPr wrap="square" rtlCol="0" anchor="ctr"/>
          <a:lstStyle/>
          <a:p>
            <a:pPr algn="ctr" indent="0" marL="0">
              <a:buNone/>
            </a:pPr>
            <a:r>
              <a:rPr lang="en-US" sz="1400" i="1" dirty="0">
                <a:solidFill>
                  <a:srgbClr val="8ABA92"/>
                </a:solidFill>
              </a:rPr>
              <a:t>[여기서 실제 앱 시연 진행]</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3D6B43"/>
        </a:solidFill>
      </p:bgPr>
    </p:bg>
    <p:spTree>
      <p:nvGrpSpPr>
        <p:cNvPr id="1" name=""/>
        <p:cNvGrpSpPr/>
        <p:nvPr/>
      </p:nvGrpSpPr>
      <p:grpSpPr>
        <a:xfrm>
          <a:off x="0" y="0"/>
          <a:ext cx="0" cy="0"/>
          <a:chOff x="0" y="0"/>
          <a:chExt cx="0" cy="0"/>
        </a:xfrm>
      </p:grpSpPr>
      <p:sp>
        <p:nvSpPr>
          <p:cNvPr id="2" name="Text 0"/>
          <p:cNvSpPr/>
          <p:nvPr/>
        </p:nvSpPr>
        <p:spPr>
          <a:xfrm>
            <a:off x="457200" y="640080"/>
            <a:ext cx="8229600" cy="640080"/>
          </a:xfrm>
          <a:prstGeom prst="rect">
            <a:avLst/>
          </a:prstGeom>
          <a:noFill/>
          <a:ln/>
        </p:spPr>
        <p:txBody>
          <a:bodyPr wrap="square" rtlCol="0" anchor="ctr"/>
          <a:lstStyle/>
          <a:p>
            <a:pPr algn="ctr" indent="0" marL="0">
              <a:buNone/>
            </a:pPr>
            <a:r>
              <a:rPr lang="en-US" sz="3200" b="1" dirty="0">
                <a:solidFill>
                  <a:srgbClr val="DDF0E1"/>
                </a:solidFill>
                <a:latin typeface="Cambria" pitchFamily="34" charset="0"/>
                <a:ea typeface="Cambria" pitchFamily="34" charset="-122"/>
                <a:cs typeface="Cambria" pitchFamily="34" charset="-120"/>
              </a:rPr>
              <a:t>🌿 emotion-diary</a:t>
            </a:r>
            <a:endParaRPr lang="en-US" sz="3200" dirty="0"/>
          </a:p>
        </p:txBody>
      </p:sp>
      <p:sp>
        <p:nvSpPr>
          <p:cNvPr id="3" name="Text 1"/>
          <p:cNvSpPr/>
          <p:nvPr/>
        </p:nvSpPr>
        <p:spPr>
          <a:xfrm>
            <a:off x="2286000" y="1417320"/>
            <a:ext cx="5029200" cy="384048"/>
          </a:xfrm>
          <a:prstGeom prst="rect">
            <a:avLst/>
          </a:prstGeom>
          <a:noFill/>
          <a:ln/>
        </p:spPr>
        <p:txBody>
          <a:bodyPr wrap="square" rtlCol="0" anchor="ctr"/>
          <a:lstStyle/>
          <a:p>
            <a:pPr indent="0" marL="0">
              <a:buNone/>
            </a:pPr>
            <a:r>
              <a:rPr lang="en-US" sz="1400" dirty="0">
                <a:solidFill>
                  <a:srgbClr val="FFFFFF"/>
                </a:solidFill>
                <a:latin typeface="Arial" pitchFamily="34" charset="0"/>
                <a:ea typeface="Arial" pitchFamily="34" charset="-122"/>
                <a:cs typeface="Arial" pitchFamily="34" charset="-120"/>
              </a:rPr>
              <a:t>✅  4레이어 클린 아키텍처 적용</a:t>
            </a:r>
            <a:endParaRPr lang="en-US" sz="1400" dirty="0"/>
          </a:p>
        </p:txBody>
      </p:sp>
      <p:sp>
        <p:nvSpPr>
          <p:cNvPr id="4" name="Text 2"/>
          <p:cNvSpPr/>
          <p:nvPr/>
        </p:nvSpPr>
        <p:spPr>
          <a:xfrm>
            <a:off x="2286000" y="1874520"/>
            <a:ext cx="5029200" cy="384048"/>
          </a:xfrm>
          <a:prstGeom prst="rect">
            <a:avLst/>
          </a:prstGeom>
          <a:noFill/>
          <a:ln/>
        </p:spPr>
        <p:txBody>
          <a:bodyPr wrap="square" rtlCol="0" anchor="ctr"/>
          <a:lstStyle/>
          <a:p>
            <a:pPr indent="0" marL="0">
              <a:buNone/>
            </a:pPr>
            <a:r>
              <a:rPr lang="en-US" sz="1400" dirty="0">
                <a:solidFill>
                  <a:srgbClr val="FFFFFF"/>
                </a:solidFill>
                <a:latin typeface="Arial" pitchFamily="34" charset="0"/>
                <a:ea typeface="Arial" pitchFamily="34" charset="-122"/>
                <a:cs typeface="Arial" pitchFamily="34" charset="-120"/>
              </a:rPr>
              <a:t>✅  Claude API 감정 분석 기능 구현</a:t>
            </a:r>
            <a:endParaRPr lang="en-US" sz="1400" dirty="0"/>
          </a:p>
        </p:txBody>
      </p:sp>
      <p:sp>
        <p:nvSpPr>
          <p:cNvPr id="5" name="Text 3"/>
          <p:cNvSpPr/>
          <p:nvPr/>
        </p:nvSpPr>
        <p:spPr>
          <a:xfrm>
            <a:off x="2286000" y="2331720"/>
            <a:ext cx="5029200" cy="384048"/>
          </a:xfrm>
          <a:prstGeom prst="rect">
            <a:avLst/>
          </a:prstGeom>
          <a:noFill/>
          <a:ln/>
        </p:spPr>
        <p:txBody>
          <a:bodyPr wrap="square" rtlCol="0" anchor="ctr"/>
          <a:lstStyle/>
          <a:p>
            <a:pPr indent="0" marL="0">
              <a:buNone/>
            </a:pPr>
            <a:r>
              <a:rPr lang="en-US" sz="1400" dirty="0">
                <a:solidFill>
                  <a:srgbClr val="FFFFFF"/>
                </a:solidFill>
                <a:latin typeface="Arial" pitchFamily="34" charset="0"/>
                <a:ea typeface="Arial" pitchFamily="34" charset="-122"/>
                <a:cs typeface="Arial" pitchFamily="34" charset="-120"/>
              </a:rPr>
              <a:t>✅  Firebase Auth + Firestore 연동</a:t>
            </a:r>
            <a:endParaRPr lang="en-US" sz="1400" dirty="0"/>
          </a:p>
        </p:txBody>
      </p:sp>
      <p:sp>
        <p:nvSpPr>
          <p:cNvPr id="6" name="Text 4"/>
          <p:cNvSpPr/>
          <p:nvPr/>
        </p:nvSpPr>
        <p:spPr>
          <a:xfrm>
            <a:off x="2286000" y="2788920"/>
            <a:ext cx="5029200" cy="384048"/>
          </a:xfrm>
          <a:prstGeom prst="rect">
            <a:avLst/>
          </a:prstGeom>
          <a:noFill/>
          <a:ln/>
        </p:spPr>
        <p:txBody>
          <a:bodyPr wrap="square" rtlCol="0" anchor="ctr"/>
          <a:lstStyle/>
          <a:p>
            <a:pPr indent="0" marL="0">
              <a:buNone/>
            </a:pPr>
            <a:r>
              <a:rPr lang="en-US" sz="1400" dirty="0">
                <a:solidFill>
                  <a:srgbClr val="FFFFFF"/>
                </a:solidFill>
                <a:latin typeface="Arial" pitchFamily="34" charset="0"/>
                <a:ea typeface="Arial" pitchFamily="34" charset="-122"/>
                <a:cs typeface="Arial" pitchFamily="34" charset="-120"/>
              </a:rPr>
              <a:t>✅  ADR-0001~0003 기술 의사결정 기록</a:t>
            </a:r>
            <a:endParaRPr lang="en-US" sz="1400" dirty="0"/>
          </a:p>
        </p:txBody>
      </p:sp>
      <p:sp>
        <p:nvSpPr>
          <p:cNvPr id="7" name="Text 5"/>
          <p:cNvSpPr/>
          <p:nvPr/>
        </p:nvSpPr>
        <p:spPr>
          <a:xfrm>
            <a:off x="2286000" y="3246120"/>
            <a:ext cx="5029200" cy="384048"/>
          </a:xfrm>
          <a:prstGeom prst="rect">
            <a:avLst/>
          </a:prstGeom>
          <a:noFill/>
          <a:ln/>
        </p:spPr>
        <p:txBody>
          <a:bodyPr wrap="square" rtlCol="0" anchor="ctr"/>
          <a:lstStyle/>
          <a:p>
            <a:pPr indent="0" marL="0">
              <a:buNone/>
            </a:pPr>
            <a:r>
              <a:rPr lang="en-US" sz="1400" dirty="0">
                <a:solidFill>
                  <a:srgbClr val="FFFFFF"/>
                </a:solidFill>
                <a:latin typeface="Arial" pitchFamily="34" charset="0"/>
                <a:ea typeface="Arial" pitchFamily="34" charset="-122"/>
                <a:cs typeface="Arial" pitchFamily="34" charset="-120"/>
              </a:rPr>
              <a:t>✅  setup / deploy / testing 문서 완비</a:t>
            </a:r>
            <a:endParaRPr lang="en-US" sz="1400" dirty="0"/>
          </a:p>
        </p:txBody>
      </p:sp>
      <p:sp>
        <p:nvSpPr>
          <p:cNvPr id="8" name="Text 6"/>
          <p:cNvSpPr/>
          <p:nvPr/>
        </p:nvSpPr>
        <p:spPr>
          <a:xfrm>
            <a:off x="2286000" y="3703320"/>
            <a:ext cx="5029200" cy="384048"/>
          </a:xfrm>
          <a:prstGeom prst="rect">
            <a:avLst/>
          </a:prstGeom>
          <a:noFill/>
          <a:ln/>
        </p:spPr>
        <p:txBody>
          <a:bodyPr wrap="square" rtlCol="0" anchor="ctr"/>
          <a:lstStyle/>
          <a:p>
            <a:pPr indent="0" marL="0">
              <a:buNone/>
            </a:pPr>
            <a:r>
              <a:rPr lang="en-US" sz="1400" dirty="0">
                <a:solidFill>
                  <a:srgbClr val="FFFFFF"/>
                </a:solidFill>
                <a:latin typeface="Arial" pitchFamily="34" charset="0"/>
                <a:ea typeface="Arial" pitchFamily="34" charset="-122"/>
                <a:cs typeface="Arial" pitchFamily="34" charset="-120"/>
              </a:rPr>
              <a:t>✅  AGENTS.md + README 완성</a:t>
            </a:r>
            <a:endParaRPr lang="en-US" sz="1400" dirty="0"/>
          </a:p>
        </p:txBody>
      </p:sp>
      <p:sp>
        <p:nvSpPr>
          <p:cNvPr id="9" name="Shape 7"/>
          <p:cNvSpPr/>
          <p:nvPr/>
        </p:nvSpPr>
        <p:spPr>
          <a:xfrm>
            <a:off x="1371600" y="4297680"/>
            <a:ext cx="6400800" cy="0"/>
          </a:xfrm>
          <a:prstGeom prst="line">
            <a:avLst/>
          </a:prstGeom>
          <a:noFill/>
          <a:ln w="19050">
            <a:solidFill>
              <a:srgbClr val="6BAE72"/>
            </a:solidFill>
            <a:prstDash val="solid"/>
          </a:ln>
        </p:spPr>
      </p:sp>
      <p:sp>
        <p:nvSpPr>
          <p:cNvPr id="10" name="Text 8"/>
          <p:cNvSpPr/>
          <p:nvPr/>
        </p:nvSpPr>
        <p:spPr>
          <a:xfrm>
            <a:off x="457200" y="4389120"/>
            <a:ext cx="8229600" cy="502920"/>
          </a:xfrm>
          <a:prstGeom prst="rect">
            <a:avLst/>
          </a:prstGeom>
          <a:noFill/>
          <a:ln/>
        </p:spPr>
        <p:txBody>
          <a:bodyPr wrap="square" rtlCol="0" anchor="ctr"/>
          <a:lstStyle/>
          <a:p>
            <a:pPr algn="ctr" indent="0" marL="0">
              <a:buNone/>
            </a:pPr>
            <a:r>
              <a:rPr lang="en-US" sz="2200" b="1" dirty="0">
                <a:solidFill>
                  <a:srgbClr val="DDF0E1"/>
                </a:solidFill>
              </a:rPr>
              <a:t>감사합니다. 질문 받겠습니다.</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emotion-diary 최종 발표</dc:title>
  <dc:subject>PptxGenJS Presentation</dc:subject>
  <dc:creator>이채연</dc:creator>
  <cp:lastModifiedBy>이채연</cp:lastModifiedBy>
  <cp:revision>1</cp:revision>
  <dcterms:created xsi:type="dcterms:W3CDTF">2026-06-21T11:00:50Z</dcterms:created>
  <dcterms:modified xsi:type="dcterms:W3CDTF">2026-06-21T11:00:50Z</dcterms:modified>
</cp:coreProperties>
</file>